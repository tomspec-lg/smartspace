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handoutMasterIdLst>
    <p:handoutMasterId r:id="rId29"/>
  </p:handoutMasterIdLst>
  <p:sldIdLst>
    <p:sldId id="256" r:id="rId5"/>
    <p:sldId id="271" r:id="rId6"/>
    <p:sldId id="272" r:id="rId7"/>
    <p:sldId id="257" r:id="rId8"/>
    <p:sldId id="260" r:id="rId9"/>
    <p:sldId id="258" r:id="rId10"/>
    <p:sldId id="285" r:id="rId11"/>
    <p:sldId id="261" r:id="rId12"/>
    <p:sldId id="270" r:id="rId13"/>
    <p:sldId id="273" r:id="rId14"/>
    <p:sldId id="274" r:id="rId15"/>
    <p:sldId id="275" r:id="rId16"/>
    <p:sldId id="276" r:id="rId17"/>
    <p:sldId id="277" r:id="rId18"/>
    <p:sldId id="278" r:id="rId19"/>
    <p:sldId id="279" r:id="rId20"/>
    <p:sldId id="280" r:id="rId21"/>
    <p:sldId id="286" r:id="rId22"/>
    <p:sldId id="281" r:id="rId23"/>
    <p:sldId id="282" r:id="rId24"/>
    <p:sldId id="283" r:id="rId25"/>
    <p:sldId id="284" r:id="rId26"/>
    <p:sldId id="26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744" autoAdjust="0"/>
  </p:normalViewPr>
  <p:slideViewPr>
    <p:cSldViewPr snapToGrid="0">
      <p:cViewPr varScale="1">
        <p:scale>
          <a:sx n="74" d="100"/>
          <a:sy n="74" d="100"/>
        </p:scale>
        <p:origin x="1042" y="58"/>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2/25/2026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2/25/2026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sz="8000" dirty="0" err="1">
                <a:latin typeface="Times New Roman" panose="02020603050405020304" pitchFamily="18" charset="0"/>
                <a:cs typeface="Times New Roman" panose="02020603050405020304" pitchFamily="18" charset="0"/>
              </a:rPr>
              <a:t>SmartSpace</a:t>
            </a:r>
            <a:endParaRPr lang="en-US" sz="8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3EDD416-C8CC-4273-B243-0EFD24AA723E}"/>
              </a:ext>
            </a:extLst>
          </p:cNvPr>
          <p:cNvSpPr txBox="1"/>
          <p:nvPr/>
        </p:nvSpPr>
        <p:spPr>
          <a:xfrm flipH="1">
            <a:off x="1031836" y="4778188"/>
            <a:ext cx="4203552" cy="1200329"/>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Project Guide</a:t>
            </a:r>
          </a:p>
          <a:p>
            <a:r>
              <a:rPr lang="en-US" dirty="0">
                <a:solidFill>
                  <a:schemeClr val="bg1"/>
                </a:solidFill>
                <a:latin typeface="Times New Roman" panose="02020603050405020304" pitchFamily="18" charset="0"/>
                <a:cs typeface="Times New Roman" panose="02020603050405020304" pitchFamily="18" charset="0"/>
              </a:rPr>
              <a:t>Mr. </a:t>
            </a:r>
            <a:r>
              <a:rPr lang="en-US" dirty="0" err="1">
                <a:solidFill>
                  <a:schemeClr val="bg1"/>
                </a:solidFill>
                <a:latin typeface="Times New Roman" panose="02020603050405020304" pitchFamily="18" charset="0"/>
                <a:cs typeface="Times New Roman" panose="02020603050405020304" pitchFamily="18" charset="0"/>
              </a:rPr>
              <a:t>Eldhose</a:t>
            </a:r>
            <a:r>
              <a:rPr lang="en-US" dirty="0">
                <a:solidFill>
                  <a:schemeClr val="bg1"/>
                </a:solidFill>
                <a:latin typeface="Times New Roman" panose="02020603050405020304" pitchFamily="18" charset="0"/>
                <a:cs typeface="Times New Roman" panose="02020603050405020304" pitchFamily="18" charset="0"/>
              </a:rPr>
              <a:t> K Paul</a:t>
            </a:r>
          </a:p>
          <a:p>
            <a:r>
              <a:rPr lang="en-US" dirty="0">
                <a:solidFill>
                  <a:schemeClr val="bg1"/>
                </a:solidFill>
                <a:latin typeface="Times New Roman" panose="02020603050405020304" pitchFamily="18" charset="0"/>
                <a:cs typeface="Times New Roman" panose="02020603050405020304" pitchFamily="18" charset="0"/>
              </a:rPr>
              <a:t>Associate Professor</a:t>
            </a:r>
          </a:p>
          <a:p>
            <a:r>
              <a:rPr lang="en-US" dirty="0">
                <a:solidFill>
                  <a:schemeClr val="bg1"/>
                </a:solidFill>
                <a:latin typeface="Times New Roman" panose="02020603050405020304" pitchFamily="18" charset="0"/>
                <a:cs typeface="Times New Roman" panose="02020603050405020304" pitchFamily="18" charset="0"/>
              </a:rPr>
              <a:t>Department of Computer Applications</a:t>
            </a:r>
          </a:p>
        </p:txBody>
      </p:sp>
      <p:sp>
        <p:nvSpPr>
          <p:cNvPr id="5" name="TextBox 4">
            <a:extLst>
              <a:ext uri="{FF2B5EF4-FFF2-40B4-BE49-F238E27FC236}">
                <a16:creationId xmlns:a16="http://schemas.microsoft.com/office/drawing/2014/main" id="{9B372766-F4E2-4806-8891-628C072B96A9}"/>
              </a:ext>
            </a:extLst>
          </p:cNvPr>
          <p:cNvSpPr txBox="1"/>
          <p:nvPr/>
        </p:nvSpPr>
        <p:spPr>
          <a:xfrm>
            <a:off x="8637673" y="4916687"/>
            <a:ext cx="2402541" cy="923330"/>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Tom Joseph </a:t>
            </a:r>
            <a:r>
              <a:rPr lang="en-US" dirty="0" err="1">
                <a:solidFill>
                  <a:schemeClr val="bg1"/>
                </a:solidFill>
                <a:latin typeface="Times New Roman" panose="02020603050405020304" pitchFamily="18" charset="0"/>
                <a:cs typeface="Times New Roman" panose="02020603050405020304" pitchFamily="18" charset="0"/>
              </a:rPr>
              <a:t>Ellickal</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S4 MCA</a:t>
            </a:r>
          </a:p>
          <a:p>
            <a:r>
              <a:rPr lang="en-US" dirty="0">
                <a:solidFill>
                  <a:schemeClr val="bg1"/>
                </a:solidFill>
                <a:latin typeface="Times New Roman" panose="02020603050405020304" pitchFamily="18" charset="0"/>
                <a:cs typeface="Times New Roman" panose="02020603050405020304" pitchFamily="18" charset="0"/>
              </a:rPr>
              <a:t>Roll No:58</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B586192-7186-4868-89BB-948667A8F92B}"/>
              </a:ext>
            </a:extLst>
          </p:cNvPr>
          <p:cNvSpPr>
            <a:spLocks noGrp="1"/>
          </p:cNvSpPr>
          <p:nvPr>
            <p:ph type="body" idx="1"/>
          </p:nvPr>
        </p:nvSpPr>
        <p:spPr>
          <a:xfrm>
            <a:off x="561319" y="1410721"/>
            <a:ext cx="11097281" cy="4983009"/>
          </a:xfrm>
        </p:spPr>
        <p:txBody>
          <a:bodyPr>
            <a:normAutofit/>
          </a:bodyPr>
          <a:lstStyle/>
          <a:p>
            <a:pPr marL="285750" indent="-285750">
              <a:lnSpc>
                <a:spcPct val="150000"/>
              </a:lnSpc>
              <a:buClr>
                <a:schemeClr val="bg1"/>
              </a:buClr>
              <a:buFont typeface="Arial" panose="020B0604020202020204" pitchFamily="34" charset="0"/>
              <a:buChar char="•"/>
            </a:pPr>
            <a:r>
              <a:rPr lang="en-US" b="1" dirty="0">
                <a:solidFill>
                  <a:schemeClr val="bg1"/>
                </a:solidFill>
              </a:rPr>
              <a:t>AI-driven interior design system</a:t>
            </a:r>
            <a:r>
              <a:rPr lang="en-US" dirty="0">
                <a:solidFill>
                  <a:schemeClr val="bg1"/>
                </a:solidFill>
              </a:rPr>
              <a:t> automates layout generation using Stable Diffusion models.</a:t>
            </a:r>
          </a:p>
          <a:p>
            <a:pPr marL="285750" indent="-285750">
              <a:lnSpc>
                <a:spcPct val="150000"/>
              </a:lnSpc>
              <a:buClr>
                <a:schemeClr val="bg1"/>
              </a:buClr>
              <a:buFont typeface="Arial" panose="020B0604020202020204" pitchFamily="34" charset="0"/>
              <a:buChar char="•"/>
            </a:pPr>
            <a:r>
              <a:rPr lang="en-US" b="1" dirty="0">
                <a:solidFill>
                  <a:schemeClr val="bg1"/>
                </a:solidFill>
              </a:rPr>
              <a:t>Traditional interior design</a:t>
            </a:r>
            <a:r>
              <a:rPr lang="en-US" dirty="0">
                <a:solidFill>
                  <a:schemeClr val="bg1"/>
                </a:solidFill>
              </a:rPr>
              <a:t> is time-consuming, costly, and lacks easy visualization before execution.</a:t>
            </a:r>
          </a:p>
          <a:p>
            <a:pPr marL="285750" indent="-285750">
              <a:lnSpc>
                <a:spcPct val="150000"/>
              </a:lnSpc>
              <a:buClr>
                <a:schemeClr val="bg1"/>
              </a:buClr>
              <a:buFont typeface="Arial" panose="020B0604020202020204" pitchFamily="34" charset="0"/>
              <a:buChar char="•"/>
            </a:pPr>
            <a:r>
              <a:rPr lang="en-US" dirty="0">
                <a:solidFill>
                  <a:schemeClr val="bg1"/>
                </a:solidFill>
              </a:rPr>
              <a:t>The system analyzes </a:t>
            </a:r>
            <a:r>
              <a:rPr lang="en-US" b="1" dirty="0">
                <a:solidFill>
                  <a:schemeClr val="bg1"/>
                </a:solidFill>
              </a:rPr>
              <a:t>room images, dimensions, and user preferences</a:t>
            </a:r>
            <a:r>
              <a:rPr lang="en-US" dirty="0">
                <a:solidFill>
                  <a:schemeClr val="bg1"/>
                </a:solidFill>
              </a:rPr>
              <a:t> to create personalized designs.</a:t>
            </a:r>
          </a:p>
          <a:p>
            <a:pPr marL="285750" indent="-285750">
              <a:lnSpc>
                <a:spcPct val="150000"/>
              </a:lnSpc>
              <a:buClr>
                <a:schemeClr val="bg1"/>
              </a:buClr>
              <a:buFont typeface="Arial" panose="020B0604020202020204" pitchFamily="34" charset="0"/>
              <a:buChar char="•"/>
            </a:pPr>
            <a:r>
              <a:rPr lang="en-US" dirty="0">
                <a:solidFill>
                  <a:schemeClr val="bg1"/>
                </a:solidFill>
              </a:rPr>
              <a:t>Supports </a:t>
            </a:r>
            <a:r>
              <a:rPr lang="en-US" b="1" dirty="0">
                <a:solidFill>
                  <a:schemeClr val="bg1"/>
                </a:solidFill>
              </a:rPr>
              <a:t>multiple room types and design styles</a:t>
            </a:r>
            <a:r>
              <a:rPr lang="en-US" dirty="0">
                <a:solidFill>
                  <a:schemeClr val="bg1"/>
                </a:solidFill>
              </a:rPr>
              <a:t> such as modern, minimalist, and rustic.</a:t>
            </a:r>
          </a:p>
          <a:p>
            <a:pPr marL="285750" indent="-285750">
              <a:lnSpc>
                <a:spcPct val="150000"/>
              </a:lnSpc>
              <a:buClr>
                <a:schemeClr val="bg1"/>
              </a:buClr>
              <a:buFont typeface="Arial" panose="020B0604020202020204" pitchFamily="34" charset="0"/>
              <a:buChar char="•"/>
            </a:pPr>
            <a:r>
              <a:rPr lang="en-US" dirty="0">
                <a:solidFill>
                  <a:schemeClr val="bg1"/>
                </a:solidFill>
              </a:rPr>
              <a:t>Enables </a:t>
            </a:r>
            <a:r>
              <a:rPr lang="en-US" b="1" dirty="0">
                <a:solidFill>
                  <a:schemeClr val="bg1"/>
                </a:solidFill>
              </a:rPr>
              <a:t>faster decision-making, better visualization, and reduced design effort</a:t>
            </a:r>
            <a:r>
              <a:rPr lang="en-US" dirty="0">
                <a:solidFill>
                  <a:schemeClr val="bg1"/>
                </a:solidFill>
              </a:rPr>
              <a:t> for users and professionals.</a:t>
            </a:r>
          </a:p>
          <a:p>
            <a:pPr>
              <a:buClr>
                <a:schemeClr val="bg1"/>
              </a:buClr>
            </a:pPr>
            <a:endParaRPr lang="en-US" dirty="0">
              <a:solidFill>
                <a:schemeClr val="bg1"/>
              </a:solidFill>
            </a:endParaRPr>
          </a:p>
        </p:txBody>
      </p:sp>
      <p:sp>
        <p:nvSpPr>
          <p:cNvPr id="3" name="Slide Number Placeholder 2">
            <a:extLst>
              <a:ext uri="{FF2B5EF4-FFF2-40B4-BE49-F238E27FC236}">
                <a16:creationId xmlns:a16="http://schemas.microsoft.com/office/drawing/2014/main" id="{54CC47C6-5025-48B4-BAAC-FEB1C720BB95}"/>
              </a:ext>
            </a:extLst>
          </p:cNvPr>
          <p:cNvSpPr>
            <a:spLocks noGrp="1"/>
          </p:cNvSpPr>
          <p:nvPr>
            <p:ph type="sldNum" sz="quarter" idx="12"/>
          </p:nvPr>
        </p:nvSpPr>
        <p:spPr/>
        <p:txBody>
          <a:bodyPr/>
          <a:lstStyle/>
          <a:p>
            <a:fld id="{C263D6C4-4840-40CC-AC84-17E24B3B7BDE}" type="slidenum">
              <a:rPr lang="en-US" noProof="0" smtClean="0"/>
              <a:pPr/>
              <a:t>2</a:t>
            </a:fld>
            <a:endParaRPr lang="en-US" noProof="0" dirty="0"/>
          </a:p>
        </p:txBody>
      </p:sp>
      <p:sp>
        <p:nvSpPr>
          <p:cNvPr id="4" name="Title 3">
            <a:extLst>
              <a:ext uri="{FF2B5EF4-FFF2-40B4-BE49-F238E27FC236}">
                <a16:creationId xmlns:a16="http://schemas.microsoft.com/office/drawing/2014/main" id="{00491911-EE7E-4D31-9CB7-2B13139FB034}"/>
              </a:ext>
            </a:extLst>
          </p:cNvPr>
          <p:cNvSpPr>
            <a:spLocks noGrp="1"/>
          </p:cNvSpPr>
          <p:nvPr>
            <p:ph type="title"/>
          </p:nvPr>
        </p:nvSpPr>
        <p:spPr>
          <a:xfrm>
            <a:off x="1416566" y="304015"/>
            <a:ext cx="5568696" cy="921470"/>
          </a:xfrm>
        </p:spPr>
        <p:txBody>
          <a:bodyPr>
            <a:normAutofit/>
          </a:bodyPr>
          <a:lstStyle/>
          <a:p>
            <a:r>
              <a:rPr lang="en-US" sz="3600" dirty="0"/>
              <a:t>Introduction</a:t>
            </a:r>
          </a:p>
        </p:txBody>
      </p:sp>
    </p:spTree>
    <p:extLst>
      <p:ext uri="{BB962C8B-B14F-4D97-AF65-F5344CB8AC3E}">
        <p14:creationId xmlns:p14="http://schemas.microsoft.com/office/powerpoint/2010/main" val="921615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D144927-2E52-4506-A4AB-B2ED6B263695}"/>
              </a:ext>
            </a:extLst>
          </p:cNvPr>
          <p:cNvSpPr>
            <a:spLocks noGrp="1"/>
          </p:cNvSpPr>
          <p:nvPr>
            <p:ph type="body" idx="1"/>
          </p:nvPr>
        </p:nvSpPr>
        <p:spPr>
          <a:xfrm>
            <a:off x="831850" y="1238484"/>
            <a:ext cx="10725412" cy="4577854"/>
          </a:xfrm>
        </p:spPr>
        <p:txBody>
          <a:bodyPr/>
          <a:lstStyle/>
          <a:p>
            <a:pPr>
              <a:lnSpc>
                <a:spcPct val="150000"/>
              </a:lnSpc>
            </a:pPr>
            <a:r>
              <a:rPr lang="en-US" dirty="0">
                <a:solidFill>
                  <a:schemeClr val="bg1"/>
                </a:solidFill>
              </a:rPr>
              <a:t>This project presents an AI-driven interior design system that uses the Stable Diffusion model to generate personalized room layouts and design recommendations. The system analyzes room images, dimensions, and user preferences to produce visually appealing and functional interior designs. It supports multiple room types and design styles, enabling users to easily visualize design options before implementation. By automating the design process, the system reduces time, cost, and effort while improving efficiency and accessibility for both professionals and non-expert users</a:t>
            </a:r>
            <a:r>
              <a:rPr lang="en-US" dirty="0"/>
              <a:t>.</a:t>
            </a:r>
          </a:p>
        </p:txBody>
      </p:sp>
      <p:sp>
        <p:nvSpPr>
          <p:cNvPr id="3" name="Slide Number Placeholder 2">
            <a:extLst>
              <a:ext uri="{FF2B5EF4-FFF2-40B4-BE49-F238E27FC236}">
                <a16:creationId xmlns:a16="http://schemas.microsoft.com/office/drawing/2014/main" id="{17BC0F32-C2AC-4F71-9E74-77FACF0840EF}"/>
              </a:ext>
            </a:extLst>
          </p:cNvPr>
          <p:cNvSpPr>
            <a:spLocks noGrp="1"/>
          </p:cNvSpPr>
          <p:nvPr>
            <p:ph type="sldNum" sz="quarter" idx="12"/>
          </p:nvPr>
        </p:nvSpPr>
        <p:spPr/>
        <p:txBody>
          <a:bodyPr/>
          <a:lstStyle/>
          <a:p>
            <a:fld id="{C263D6C4-4840-40CC-AC84-17E24B3B7BDE}" type="slidenum">
              <a:rPr lang="en-US" noProof="0" smtClean="0"/>
              <a:pPr/>
              <a:t>3</a:t>
            </a:fld>
            <a:endParaRPr lang="en-US" noProof="0" dirty="0"/>
          </a:p>
        </p:txBody>
      </p:sp>
      <p:sp>
        <p:nvSpPr>
          <p:cNvPr id="4" name="Title 3">
            <a:extLst>
              <a:ext uri="{FF2B5EF4-FFF2-40B4-BE49-F238E27FC236}">
                <a16:creationId xmlns:a16="http://schemas.microsoft.com/office/drawing/2014/main" id="{DD288BE9-AB1B-4461-8D76-B5432B2EC021}"/>
              </a:ext>
            </a:extLst>
          </p:cNvPr>
          <p:cNvSpPr>
            <a:spLocks noGrp="1"/>
          </p:cNvSpPr>
          <p:nvPr>
            <p:ph type="title"/>
          </p:nvPr>
        </p:nvSpPr>
        <p:spPr>
          <a:xfrm>
            <a:off x="1539114" y="379429"/>
            <a:ext cx="7781544" cy="859055"/>
          </a:xfrm>
        </p:spPr>
        <p:txBody>
          <a:bodyPr>
            <a:normAutofit/>
          </a:bodyPr>
          <a:lstStyle/>
          <a:p>
            <a:r>
              <a:rPr lang="en-US" sz="3600" dirty="0"/>
              <a:t>Abstract</a:t>
            </a:r>
          </a:p>
        </p:txBody>
      </p:sp>
    </p:spTree>
    <p:extLst>
      <p:ext uri="{BB962C8B-B14F-4D97-AF65-F5344CB8AC3E}">
        <p14:creationId xmlns:p14="http://schemas.microsoft.com/office/powerpoint/2010/main" val="3574793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
        <p:nvSpPr>
          <p:cNvPr id="3" name="TextBox 2">
            <a:extLst>
              <a:ext uri="{FF2B5EF4-FFF2-40B4-BE49-F238E27FC236}">
                <a16:creationId xmlns:a16="http://schemas.microsoft.com/office/drawing/2014/main" id="{193C92AC-EE33-49B4-BA23-E693FF0A1B1F}"/>
              </a:ext>
            </a:extLst>
          </p:cNvPr>
          <p:cNvSpPr txBox="1"/>
          <p:nvPr/>
        </p:nvSpPr>
        <p:spPr>
          <a:xfrm>
            <a:off x="2770094" y="806825"/>
            <a:ext cx="6683188"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Problem Identification </a:t>
            </a:r>
          </a:p>
        </p:txBody>
      </p:sp>
      <p:sp>
        <p:nvSpPr>
          <p:cNvPr id="7" name="TextBox 6">
            <a:extLst>
              <a:ext uri="{FF2B5EF4-FFF2-40B4-BE49-F238E27FC236}">
                <a16:creationId xmlns:a16="http://schemas.microsoft.com/office/drawing/2014/main" id="{55556369-9F11-4D79-9EAF-872D4FA43722}"/>
              </a:ext>
            </a:extLst>
          </p:cNvPr>
          <p:cNvSpPr txBox="1"/>
          <p:nvPr/>
        </p:nvSpPr>
        <p:spPr>
          <a:xfrm>
            <a:off x="1102659" y="2178424"/>
            <a:ext cx="7261412" cy="327782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Traditional interior design is time-consuming and expensive.</a:t>
            </a:r>
          </a:p>
          <a:p>
            <a:pPr marL="285750" indent="-28575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Users struggle to visualize designs in advance.</a:t>
            </a:r>
          </a:p>
          <a:p>
            <a:pPr marL="285750" indent="-28575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Existing tools offer limited personalization.</a:t>
            </a:r>
          </a:p>
          <a:p>
            <a:pPr marL="285750" indent="-28575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There is no efficient automated system for personalized interior design generation.</a:t>
            </a:r>
          </a:p>
          <a:p>
            <a:pPr marL="285750" indent="-28575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There is a need for an AI-based solution that saves time, cost, and effort while providing customized designs.</a:t>
            </a:r>
          </a:p>
          <a:p>
            <a:endParaRPr lang="en-US" dirty="0"/>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
        <p:nvSpPr>
          <p:cNvPr id="3" name="Rectangle 2">
            <a:extLst>
              <a:ext uri="{FF2B5EF4-FFF2-40B4-BE49-F238E27FC236}">
                <a16:creationId xmlns:a16="http://schemas.microsoft.com/office/drawing/2014/main" id="{4CD5B1DD-4F7A-4AA6-9015-A3A9177AE0DA}"/>
              </a:ext>
            </a:extLst>
          </p:cNvPr>
          <p:cNvSpPr/>
          <p:nvPr/>
        </p:nvSpPr>
        <p:spPr>
          <a:xfrm>
            <a:off x="3137428" y="572852"/>
            <a:ext cx="4100481" cy="646331"/>
          </a:xfrm>
          <a:prstGeom prst="rect">
            <a:avLst/>
          </a:prstGeom>
        </p:spPr>
        <p:txBody>
          <a:bodyPr wrap="none">
            <a:spAutoFit/>
          </a:bodyPr>
          <a:lstStyle/>
          <a:p>
            <a:r>
              <a:rPr lang="en-US" sz="3600" b="1" dirty="0">
                <a:solidFill>
                  <a:schemeClr val="bg1"/>
                </a:solidFill>
                <a:latin typeface="Times New Roman" panose="02020603050405020304" pitchFamily="18" charset="0"/>
                <a:cs typeface="Times New Roman" panose="02020603050405020304" pitchFamily="18" charset="0"/>
              </a:rPr>
              <a:t>Problem Statement </a:t>
            </a:r>
          </a:p>
        </p:txBody>
      </p:sp>
      <p:sp>
        <p:nvSpPr>
          <p:cNvPr id="5" name="Rectangle 2">
            <a:extLst>
              <a:ext uri="{FF2B5EF4-FFF2-40B4-BE49-F238E27FC236}">
                <a16:creationId xmlns:a16="http://schemas.microsoft.com/office/drawing/2014/main" id="{C2BBCA69-8485-451C-8908-7F17410934B0}"/>
              </a:ext>
            </a:extLst>
          </p:cNvPr>
          <p:cNvSpPr>
            <a:spLocks noChangeArrowheads="1"/>
          </p:cNvSpPr>
          <p:nvPr/>
        </p:nvSpPr>
        <p:spPr bwMode="auto">
          <a:xfrm>
            <a:off x="923365" y="1602941"/>
            <a:ext cx="8794376"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bg1"/>
                </a:solidFill>
                <a:effectLst/>
                <a:latin typeface="Arial" panose="020B0604020202020204" pitchFamily="34" charset="0"/>
              </a:rPr>
              <a:t>Users find it difficult to </a:t>
            </a:r>
            <a:r>
              <a:rPr kumimoji="0" lang="en-US" altLang="en-US" b="1" i="0" u="none" strike="noStrike" cap="none" normalizeH="0" baseline="0" dirty="0">
                <a:ln>
                  <a:noFill/>
                </a:ln>
                <a:solidFill>
                  <a:schemeClr val="bg1"/>
                </a:solidFill>
                <a:effectLst/>
                <a:latin typeface="Arial" panose="020B0604020202020204" pitchFamily="34" charset="0"/>
              </a:rPr>
              <a:t>visualize designs before execution</a:t>
            </a:r>
            <a:r>
              <a:rPr kumimoji="0" lang="en-US" altLang="en-US" b="0" i="0" u="none" strike="noStrike" cap="none" normalizeH="0" baseline="0" dirty="0">
                <a:ln>
                  <a:noFill/>
                </a:ln>
                <a:solidFill>
                  <a:schemeClr val="bg1"/>
                </a:solidFill>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Existing design tools offer </a:t>
            </a:r>
            <a:r>
              <a:rPr kumimoji="0" lang="en-US" altLang="en-US" sz="1800" b="1" i="0" u="none" strike="noStrike" cap="none" normalizeH="0" baseline="0" dirty="0">
                <a:ln>
                  <a:noFill/>
                </a:ln>
                <a:solidFill>
                  <a:schemeClr val="bg1"/>
                </a:solidFill>
                <a:effectLst/>
                <a:latin typeface="Arial" panose="020B0604020202020204" pitchFamily="34" charset="0"/>
              </a:rPr>
              <a:t>limited personalization</a:t>
            </a:r>
            <a:r>
              <a:rPr kumimoji="0" lang="en-US" altLang="en-US" sz="1800" b="0" i="0" u="none" strike="noStrike" cap="none" normalizeH="0" baseline="0" dirty="0">
                <a:ln>
                  <a:noFill/>
                </a:ln>
                <a:solidFill>
                  <a:schemeClr val="bg1"/>
                </a:solidFill>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Current systems lack </a:t>
            </a:r>
            <a:r>
              <a:rPr kumimoji="0" lang="en-US" altLang="en-US" sz="1800" b="1" i="0" u="none" strike="noStrike" cap="none" normalizeH="0" baseline="0" dirty="0">
                <a:ln>
                  <a:noFill/>
                </a:ln>
                <a:solidFill>
                  <a:schemeClr val="bg1"/>
                </a:solidFill>
                <a:effectLst/>
                <a:latin typeface="Arial" panose="020B0604020202020204" pitchFamily="34" charset="0"/>
              </a:rPr>
              <a:t>intelligent automation</a:t>
            </a:r>
            <a:r>
              <a:rPr kumimoji="0" lang="en-US" altLang="en-US" sz="1800" b="0" i="0" u="none" strike="noStrike" cap="none" normalizeH="0" baseline="0" dirty="0">
                <a:ln>
                  <a:noFill/>
                </a:ln>
                <a:solidFill>
                  <a:schemeClr val="bg1"/>
                </a:solidFill>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There is a need for an </a:t>
            </a:r>
            <a:r>
              <a:rPr kumimoji="0" lang="en-US" altLang="en-US" sz="1800" b="1" i="0" u="none" strike="noStrike" cap="none" normalizeH="0" baseline="0" dirty="0">
                <a:ln>
                  <a:noFill/>
                </a:ln>
                <a:solidFill>
                  <a:schemeClr val="bg1"/>
                </a:solidFill>
                <a:effectLst/>
                <a:latin typeface="Arial" panose="020B0604020202020204" pitchFamily="34" charset="0"/>
              </a:rPr>
              <a:t>AI-based interior design system</a:t>
            </a:r>
            <a:r>
              <a:rPr kumimoji="0" lang="en-US" altLang="en-US" sz="1800" b="0" i="0" u="none" strike="noStrike" cap="none" normalizeH="0" baseline="0" dirty="0">
                <a:ln>
                  <a:noFill/>
                </a:ln>
                <a:solidFill>
                  <a:schemeClr val="bg1"/>
                </a:solidFill>
                <a:effectLst/>
                <a:latin typeface="Arial" panose="020B0604020202020204" pitchFamily="34" charset="0"/>
              </a:rPr>
              <a:t> that can generate </a:t>
            </a:r>
            <a:r>
              <a:rPr kumimoji="0" lang="en-US" altLang="en-US" sz="1800" b="1" i="0" u="none" strike="noStrike" cap="none" normalizeH="0" baseline="0" dirty="0">
                <a:ln>
                  <a:noFill/>
                </a:ln>
                <a:solidFill>
                  <a:schemeClr val="bg1"/>
                </a:solidFill>
                <a:effectLst/>
                <a:latin typeface="Arial" panose="020B0604020202020204" pitchFamily="34" charset="0"/>
              </a:rPr>
              <a:t>personalized designs efficiently</a:t>
            </a:r>
            <a:r>
              <a:rPr kumimoji="0" lang="en-US" altLang="en-US" sz="1800" b="0" i="0" u="none" strike="noStrike" cap="none" normalizeH="0" baseline="0" dirty="0">
                <a:ln>
                  <a:noFill/>
                </a:ln>
                <a:solidFill>
                  <a:schemeClr val="bg1"/>
                </a:solidFill>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The system should </a:t>
            </a:r>
            <a:r>
              <a:rPr kumimoji="0" lang="en-US" altLang="en-US" sz="1800" b="1" i="0" u="none" strike="noStrike" cap="none" normalizeH="0" baseline="0" dirty="0">
                <a:ln>
                  <a:noFill/>
                </a:ln>
                <a:solidFill>
                  <a:schemeClr val="bg1"/>
                </a:solidFill>
                <a:effectLst/>
                <a:latin typeface="Arial" panose="020B0604020202020204" pitchFamily="34" charset="0"/>
              </a:rPr>
              <a:t>reduce time, cost, and manual effort</a:t>
            </a:r>
            <a:r>
              <a:rPr kumimoji="0" lang="en-US" altLang="en-US" sz="1800" b="0" i="0" u="none" strike="noStrike" cap="none" normalizeH="0" baseline="0" dirty="0">
                <a:ln>
                  <a:noFill/>
                </a:ln>
                <a:solidFill>
                  <a:schemeClr val="bg1"/>
                </a:solidFill>
                <a:effectLst/>
                <a:latin typeface="Arial" panose="020B0604020202020204" pitchFamily="34" charset="0"/>
              </a:rPr>
              <a:t> while improving design visualization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Traditional interior design is </a:t>
            </a:r>
            <a:r>
              <a:rPr kumimoji="0" lang="en-US" altLang="en-US" sz="1800" b="1" i="0" u="none" strike="noStrike" cap="none" normalizeH="0" baseline="0" dirty="0">
                <a:ln>
                  <a:noFill/>
                </a:ln>
                <a:solidFill>
                  <a:schemeClr val="bg1"/>
                </a:solidFill>
                <a:effectLst/>
                <a:latin typeface="Arial" panose="020B0604020202020204" pitchFamily="34" charset="0"/>
              </a:rPr>
              <a:t>time-consuming and expensive</a:t>
            </a:r>
            <a:r>
              <a:rPr kumimoji="0" lang="en-US" altLang="en-US" sz="1800" b="0" i="0" u="none" strike="noStrike" cap="none" normalizeH="0" baseline="0" dirty="0">
                <a:ln>
                  <a:noFill/>
                </a:ln>
                <a:solidFill>
                  <a:schemeClr val="bg1"/>
                </a:solidFill>
                <a:effectLst/>
                <a:latin typeface="Arial" panose="020B0604020202020204" pitchFamily="34" charset="0"/>
              </a:rPr>
              <a:t>.</a:t>
            </a:r>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1057834" y="542925"/>
            <a:ext cx="10600765" cy="590931"/>
          </a:xfrm>
        </p:spPr>
        <p:txBody>
          <a:bodyPr/>
          <a:lstStyle/>
          <a:p>
            <a:r>
              <a:rPr lang="en-US" sz="3600" dirty="0">
                <a:latin typeface="Times New Roman" panose="02020603050405020304" pitchFamily="18" charset="0"/>
                <a:cs typeface="Times New Roman" panose="02020603050405020304" pitchFamily="18" charset="0"/>
              </a:rPr>
              <a:t>Proposed System</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
        <p:nvSpPr>
          <p:cNvPr id="6" name="Rectangle 5">
            <a:extLst>
              <a:ext uri="{FF2B5EF4-FFF2-40B4-BE49-F238E27FC236}">
                <a16:creationId xmlns:a16="http://schemas.microsoft.com/office/drawing/2014/main" id="{5366051E-C873-4110-965B-40AE56BC6E7E}"/>
              </a:ext>
            </a:extLst>
          </p:cNvPr>
          <p:cNvSpPr/>
          <p:nvPr/>
        </p:nvSpPr>
        <p:spPr>
          <a:xfrm>
            <a:off x="1113861" y="1752164"/>
            <a:ext cx="7097809" cy="2951064"/>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An AI-based interior design system for automated design generation.</a:t>
            </a:r>
          </a:p>
          <a:p>
            <a:pPr marL="285750" indent="-28575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Users can upload room images and provide design preferences.</a:t>
            </a:r>
          </a:p>
          <a:p>
            <a:pPr marL="285750" indent="-28575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The system generates personalized interior designs using AI models.</a:t>
            </a:r>
          </a:p>
          <a:p>
            <a:pPr marL="285750" indent="-28575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Supports multiple design styles and layouts.</a:t>
            </a:r>
          </a:p>
          <a:p>
            <a:pPr marL="285750" indent="-28575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Helps users visualize designs before execution.</a:t>
            </a:r>
          </a:p>
          <a:p>
            <a:pPr marL="285750" indent="-28575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Reduces time, cost, and manual effort.</a:t>
            </a:r>
          </a:p>
          <a:p>
            <a:pPr marL="285750" indent="-28575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Minimizes dependency on professional interior designers.</a:t>
            </a:r>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1C4B6-234D-D6B9-6F00-33B6D96D0A7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B45F518-743A-813B-7827-F401E180C429}"/>
              </a:ext>
            </a:extLst>
          </p:cNvPr>
          <p:cNvSpPr>
            <a:spLocks noGrp="1"/>
          </p:cNvSpPr>
          <p:nvPr>
            <p:ph type="title"/>
          </p:nvPr>
        </p:nvSpPr>
        <p:spPr>
          <a:xfrm>
            <a:off x="133043" y="168852"/>
            <a:ext cx="10600765" cy="590931"/>
          </a:xfrm>
        </p:spPr>
        <p:txBody>
          <a:bodyPr/>
          <a:lstStyle/>
          <a:p>
            <a:r>
              <a:rPr lang="en-US" sz="3600" dirty="0">
                <a:latin typeface="Times New Roman" panose="02020603050405020304" pitchFamily="18" charset="0"/>
                <a:cs typeface="Times New Roman" panose="02020603050405020304" pitchFamily="18" charset="0"/>
              </a:rPr>
              <a:t>Literature Review</a:t>
            </a:r>
          </a:p>
        </p:txBody>
      </p:sp>
      <p:sp>
        <p:nvSpPr>
          <p:cNvPr id="2" name="Slide Number Placeholder 1">
            <a:extLst>
              <a:ext uri="{FF2B5EF4-FFF2-40B4-BE49-F238E27FC236}">
                <a16:creationId xmlns:a16="http://schemas.microsoft.com/office/drawing/2014/main" id="{F6DB1ED5-FB3E-ECFC-751F-EE58C109A33C}"/>
              </a:ext>
            </a:extLst>
          </p:cNvPr>
          <p:cNvSpPr>
            <a:spLocks noGrp="1"/>
          </p:cNvSpPr>
          <p:nvPr>
            <p:ph type="sldNum" sz="quarter" idx="12"/>
          </p:nvPr>
        </p:nvSpPr>
        <p:spPr/>
        <p:txBody>
          <a:bodyPr/>
          <a:lstStyle/>
          <a:p>
            <a:fld id="{C263D6C4-4840-40CC-AC84-17E24B3B7BDE}" type="slidenum">
              <a:rPr lang="en-US" smtClean="0"/>
              <a:pPr/>
              <a:t>7</a:t>
            </a:fld>
            <a:endParaRPr lang="en-US" dirty="0"/>
          </a:p>
        </p:txBody>
      </p:sp>
      <p:graphicFrame>
        <p:nvGraphicFramePr>
          <p:cNvPr id="3" name="Table 2">
            <a:extLst>
              <a:ext uri="{FF2B5EF4-FFF2-40B4-BE49-F238E27FC236}">
                <a16:creationId xmlns:a16="http://schemas.microsoft.com/office/drawing/2014/main" id="{8F0DBB86-AF71-9295-0CA6-58B9B25493C6}"/>
              </a:ext>
            </a:extLst>
          </p:cNvPr>
          <p:cNvGraphicFramePr>
            <a:graphicFrameLocks noGrp="1"/>
          </p:cNvGraphicFramePr>
          <p:nvPr>
            <p:extLst>
              <p:ext uri="{D42A27DB-BD31-4B8C-83A1-F6EECF244321}">
                <p14:modId xmlns:p14="http://schemas.microsoft.com/office/powerpoint/2010/main" val="3434597915"/>
              </p:ext>
            </p:extLst>
          </p:nvPr>
        </p:nvGraphicFramePr>
        <p:xfrm>
          <a:off x="0" y="792326"/>
          <a:ext cx="12192000" cy="6065673"/>
        </p:xfrm>
        <a:graphic>
          <a:graphicData uri="http://schemas.openxmlformats.org/drawingml/2006/table">
            <a:tbl>
              <a:tblPr firstRow="1" bandRow="1">
                <a:tableStyleId>{5C22544A-7EE6-4342-B048-85BDC9FD1C3A}</a:tableStyleId>
              </a:tblPr>
              <a:tblGrid>
                <a:gridCol w="2343823">
                  <a:extLst>
                    <a:ext uri="{9D8B030D-6E8A-4147-A177-3AD203B41FA5}">
                      <a16:colId xmlns:a16="http://schemas.microsoft.com/office/drawing/2014/main" val="1824351831"/>
                    </a:ext>
                  </a:extLst>
                </a:gridCol>
                <a:gridCol w="1720177">
                  <a:extLst>
                    <a:ext uri="{9D8B030D-6E8A-4147-A177-3AD203B41FA5}">
                      <a16:colId xmlns:a16="http://schemas.microsoft.com/office/drawing/2014/main" val="1512779163"/>
                    </a:ext>
                  </a:extLst>
                </a:gridCol>
                <a:gridCol w="2032000">
                  <a:extLst>
                    <a:ext uri="{9D8B030D-6E8A-4147-A177-3AD203B41FA5}">
                      <a16:colId xmlns:a16="http://schemas.microsoft.com/office/drawing/2014/main" val="1477333138"/>
                    </a:ext>
                  </a:extLst>
                </a:gridCol>
                <a:gridCol w="2395223">
                  <a:extLst>
                    <a:ext uri="{9D8B030D-6E8A-4147-A177-3AD203B41FA5}">
                      <a16:colId xmlns:a16="http://schemas.microsoft.com/office/drawing/2014/main" val="3354691738"/>
                    </a:ext>
                  </a:extLst>
                </a:gridCol>
                <a:gridCol w="2076546">
                  <a:extLst>
                    <a:ext uri="{9D8B030D-6E8A-4147-A177-3AD203B41FA5}">
                      <a16:colId xmlns:a16="http://schemas.microsoft.com/office/drawing/2014/main" val="4035725920"/>
                    </a:ext>
                  </a:extLst>
                </a:gridCol>
                <a:gridCol w="1624231">
                  <a:extLst>
                    <a:ext uri="{9D8B030D-6E8A-4147-A177-3AD203B41FA5}">
                      <a16:colId xmlns:a16="http://schemas.microsoft.com/office/drawing/2014/main" val="1045547919"/>
                    </a:ext>
                  </a:extLst>
                </a:gridCol>
              </a:tblGrid>
              <a:tr h="983623">
                <a:tc>
                  <a:txBody>
                    <a:bodyPr/>
                    <a:lstStyle/>
                    <a:p>
                      <a:pPr>
                        <a:buNone/>
                      </a:pPr>
                      <a:r>
                        <a:rPr lang="en-IN" b="1" dirty="0"/>
                        <a:t>TITLE &amp; YEAR</a:t>
                      </a:r>
                      <a:endParaRPr lang="en-IN" dirty="0"/>
                    </a:p>
                  </a:txBody>
                  <a:tcPr anchor="ctr"/>
                </a:tc>
                <a:tc>
                  <a:txBody>
                    <a:bodyPr/>
                    <a:lstStyle/>
                    <a:p>
                      <a:r>
                        <a:rPr lang="en-IN" dirty="0"/>
                        <a:t>AUTHOR &amp; PUBLICATION</a:t>
                      </a:r>
                    </a:p>
                  </a:txBody>
                  <a:tcPr/>
                </a:tc>
                <a:tc>
                  <a:txBody>
                    <a:bodyPr/>
                    <a:lstStyle/>
                    <a:p>
                      <a:r>
                        <a:rPr lang="en-IN" dirty="0"/>
                        <a:t>ALGORITHM USED</a:t>
                      </a:r>
                    </a:p>
                  </a:txBody>
                  <a:tcPr/>
                </a:tc>
                <a:tc>
                  <a:txBody>
                    <a:bodyPr/>
                    <a:lstStyle/>
                    <a:p>
                      <a:r>
                        <a:rPr lang="en-IN" dirty="0"/>
                        <a:t>FEATURE EXTRACTED / METHODOLOGY</a:t>
                      </a:r>
                    </a:p>
                  </a:txBody>
                  <a:tcPr/>
                </a:tc>
                <a:tc>
                  <a:txBody>
                    <a:bodyPr/>
                    <a:lstStyle/>
                    <a:p>
                      <a:r>
                        <a:rPr lang="en-IN" dirty="0"/>
                        <a:t>PERFORMANCE METRIC</a:t>
                      </a:r>
                    </a:p>
                  </a:txBody>
                  <a:tcPr/>
                </a:tc>
                <a:tc>
                  <a:txBody>
                    <a:bodyPr/>
                    <a:lstStyle/>
                    <a:p>
                      <a:r>
                        <a:rPr lang="en-IN" dirty="0"/>
                        <a:t>RESULT / FINDINGS</a:t>
                      </a:r>
                    </a:p>
                  </a:txBody>
                  <a:tcPr/>
                </a:tc>
                <a:extLst>
                  <a:ext uri="{0D108BD9-81ED-4DB2-BD59-A6C34878D82A}">
                    <a16:rowId xmlns:a16="http://schemas.microsoft.com/office/drawing/2014/main" val="1112087347"/>
                  </a:ext>
                </a:extLst>
              </a:tr>
              <a:tr h="1016410">
                <a:tc>
                  <a:txBody>
                    <a:bodyPr/>
                    <a:lstStyle/>
                    <a:p>
                      <a:r>
                        <a:rPr lang="en-US" sz="1400" dirty="0">
                          <a:latin typeface="+mn-lt"/>
                        </a:rPr>
                        <a:t>Smart Home Decor Recommendation Using Multimodal AI (2025)</a:t>
                      </a:r>
                      <a:endParaRPr lang="en-IN" sz="1400" dirty="0">
                        <a:latin typeface="+mn-lt"/>
                      </a:endParaRPr>
                    </a:p>
                  </a:txBody>
                  <a:tcPr/>
                </a:tc>
                <a:tc>
                  <a:txBody>
                    <a:bodyPr/>
                    <a:lstStyle/>
                    <a:p>
                      <a:r>
                        <a:rPr lang="en-IN" sz="1400" dirty="0"/>
                        <a:t>T. Joseph et al., </a:t>
                      </a:r>
                      <a:r>
                        <a:rPr lang="en-IN" sz="1400" i="1" dirty="0"/>
                        <a:t>Elsevier Applied AI</a:t>
                      </a:r>
                      <a:endParaRPr lang="en-IN" sz="1400" dirty="0"/>
                    </a:p>
                  </a:txBody>
                  <a:tcPr/>
                </a:tc>
                <a:tc>
                  <a:txBody>
                    <a:bodyPr/>
                    <a:lstStyle/>
                    <a:p>
                      <a:r>
                        <a:rPr lang="en-IN" sz="1400" dirty="0"/>
                        <a:t>Multimodal Transformers</a:t>
                      </a:r>
                    </a:p>
                  </a:txBody>
                  <a:tcPr/>
                </a:tc>
                <a:tc>
                  <a:txBody>
                    <a:bodyPr/>
                    <a:lstStyle/>
                    <a:p>
                      <a:r>
                        <a:rPr lang="en-IN" sz="1400" dirty="0"/>
                        <a:t>Image-text preference fusion</a:t>
                      </a:r>
                    </a:p>
                  </a:txBody>
                  <a:tcPr/>
                </a:tc>
                <a:tc>
                  <a:txBody>
                    <a:bodyPr/>
                    <a:lstStyle/>
                    <a:p>
                      <a:r>
                        <a:rPr lang="en-IN" sz="1400" dirty="0"/>
                        <a:t>Accuracy, User Rating</a:t>
                      </a:r>
                    </a:p>
                  </a:txBody>
                  <a:tcPr/>
                </a:tc>
                <a:tc>
                  <a:txBody>
                    <a:bodyPr/>
                    <a:lstStyle/>
                    <a:p>
                      <a:r>
                        <a:rPr lang="en-US" sz="1400" dirty="0"/>
                        <a:t>Enhanced recommendation relevance and usability</a:t>
                      </a:r>
                      <a:endParaRPr lang="en-IN" sz="1400" dirty="0"/>
                    </a:p>
                  </a:txBody>
                  <a:tcPr/>
                </a:tc>
                <a:extLst>
                  <a:ext uri="{0D108BD9-81ED-4DB2-BD59-A6C34878D82A}">
                    <a16:rowId xmlns:a16="http://schemas.microsoft.com/office/drawing/2014/main" val="3657477237"/>
                  </a:ext>
                </a:extLst>
              </a:tr>
              <a:tr h="1016410">
                <a:tc>
                  <a:txBody>
                    <a:bodyPr/>
                    <a:lstStyle/>
                    <a:p>
                      <a:r>
                        <a:rPr lang="en-US" sz="1400" dirty="0"/>
                        <a:t>Generative AI for Personalized Room Decoration (2025)</a:t>
                      </a:r>
                      <a:endParaRPr lang="en-IN" sz="1400" dirty="0"/>
                    </a:p>
                  </a:txBody>
                  <a:tcPr/>
                </a:tc>
                <a:tc>
                  <a:txBody>
                    <a:bodyPr/>
                    <a:lstStyle/>
                    <a:p>
                      <a:r>
                        <a:rPr lang="fr-FR" sz="1400" dirty="0"/>
                        <a:t>N. Rao et al., </a:t>
                      </a:r>
                      <a:r>
                        <a:rPr lang="fr-FR" sz="1400" i="1" dirty="0"/>
                        <a:t>ACM Transactions on Graphics</a:t>
                      </a:r>
                      <a:endParaRPr lang="en-IN" sz="1400" dirty="0"/>
                    </a:p>
                  </a:txBody>
                  <a:tcPr/>
                </a:tc>
                <a:tc>
                  <a:txBody>
                    <a:bodyPr/>
                    <a:lstStyle/>
                    <a:p>
                      <a:r>
                        <a:rPr lang="en-IN" sz="1400" dirty="0"/>
                        <a:t>GAN + Diffusion</a:t>
                      </a:r>
                    </a:p>
                  </a:txBody>
                  <a:tcPr/>
                </a:tc>
                <a:tc>
                  <a:txBody>
                    <a:bodyPr/>
                    <a:lstStyle/>
                    <a:p>
                      <a:r>
                        <a:rPr lang="en-US" sz="1400" dirty="0"/>
                        <a:t>Style synthesis, user preference learning</a:t>
                      </a:r>
                      <a:endParaRPr lang="en-IN" sz="1400" dirty="0"/>
                    </a:p>
                  </a:txBody>
                  <a:tcPr/>
                </a:tc>
                <a:tc>
                  <a:txBody>
                    <a:bodyPr/>
                    <a:lstStyle/>
                    <a:p>
                      <a:r>
                        <a:rPr lang="en-IN" sz="1400" dirty="0"/>
                        <a:t>MOS, Visual Realism</a:t>
                      </a:r>
                    </a:p>
                  </a:txBody>
                  <a:tcPr/>
                </a:tc>
                <a:tc>
                  <a:txBody>
                    <a:bodyPr/>
                    <a:lstStyle/>
                    <a:p>
                      <a:r>
                        <a:rPr lang="en-US" sz="1400" dirty="0"/>
                        <a:t>Generated highly customized and photorealistic room designs</a:t>
                      </a:r>
                      <a:endParaRPr lang="en-IN" sz="1400" dirty="0"/>
                    </a:p>
                  </a:txBody>
                  <a:tcPr/>
                </a:tc>
                <a:extLst>
                  <a:ext uri="{0D108BD9-81ED-4DB2-BD59-A6C34878D82A}">
                    <a16:rowId xmlns:a16="http://schemas.microsoft.com/office/drawing/2014/main" val="3469895476"/>
                  </a:ext>
                </a:extLst>
              </a:tr>
              <a:tr h="1016410">
                <a:tc>
                  <a:txBody>
                    <a:bodyPr/>
                    <a:lstStyle/>
                    <a:p>
                      <a:r>
                        <a:rPr lang="en-US" sz="1400" dirty="0"/>
                        <a:t>Vision-Based Room Decor Recommendation Platform (2024)</a:t>
                      </a:r>
                      <a:endParaRPr lang="en-IN" sz="1400" dirty="0"/>
                    </a:p>
                  </a:txBody>
                  <a:tcPr/>
                </a:tc>
                <a:tc>
                  <a:txBody>
                    <a:bodyPr/>
                    <a:lstStyle/>
                    <a:p>
                      <a:r>
                        <a:rPr lang="nl-NL" sz="1400" dirty="0"/>
                        <a:t>A. Verma et al., </a:t>
                      </a:r>
                      <a:r>
                        <a:rPr lang="nl-NL" sz="1400" i="1" dirty="0"/>
                        <a:t>IEEE ICCV Workshops</a:t>
                      </a:r>
                      <a:endParaRPr lang="en-IN" sz="1400" dirty="0"/>
                    </a:p>
                  </a:txBody>
                  <a:tcPr/>
                </a:tc>
                <a:tc>
                  <a:txBody>
                    <a:bodyPr/>
                    <a:lstStyle/>
                    <a:p>
                      <a:r>
                        <a:rPr lang="en-IN" sz="1400" dirty="0"/>
                        <a:t>Vision Transformer (</a:t>
                      </a:r>
                      <a:r>
                        <a:rPr lang="en-IN" sz="1400" dirty="0" err="1"/>
                        <a:t>ViT</a:t>
                      </a:r>
                      <a:r>
                        <a:rPr lang="en-IN" sz="1400" dirty="0"/>
                        <a:t>)</a:t>
                      </a:r>
                    </a:p>
                  </a:txBody>
                  <a:tcPr/>
                </a:tc>
                <a:tc>
                  <a:txBody>
                    <a:bodyPr/>
                    <a:lstStyle/>
                    <a:p>
                      <a:r>
                        <a:rPr lang="en-US" sz="1400" dirty="0"/>
                        <a:t>Semantic room understanding, object embeddings</a:t>
                      </a:r>
                      <a:endParaRPr lang="en-IN" sz="1400" dirty="0"/>
                    </a:p>
                  </a:txBody>
                  <a:tcPr/>
                </a:tc>
                <a:tc>
                  <a:txBody>
                    <a:bodyPr/>
                    <a:lstStyle/>
                    <a:p>
                      <a:r>
                        <a:rPr lang="en-IN" sz="1400" dirty="0"/>
                        <a:t>Top-K Accuracy</a:t>
                      </a:r>
                    </a:p>
                  </a:txBody>
                  <a:tcPr/>
                </a:tc>
                <a:tc>
                  <a:txBody>
                    <a:bodyPr/>
                    <a:lstStyle/>
                    <a:p>
                      <a:r>
                        <a:rPr lang="en-US" sz="1400" dirty="0"/>
                        <a:t>Improved decor matching over CNN-based models</a:t>
                      </a:r>
                      <a:endParaRPr lang="en-IN" sz="1400" dirty="0"/>
                    </a:p>
                  </a:txBody>
                  <a:tcPr/>
                </a:tc>
                <a:extLst>
                  <a:ext uri="{0D108BD9-81ED-4DB2-BD59-A6C34878D82A}">
                    <a16:rowId xmlns:a16="http://schemas.microsoft.com/office/drawing/2014/main" val="2294369787"/>
                  </a:ext>
                </a:extLst>
              </a:tr>
              <a:tr h="1016410">
                <a:tc>
                  <a:txBody>
                    <a:bodyPr/>
                    <a:lstStyle/>
                    <a:p>
                      <a:pPr>
                        <a:buNone/>
                      </a:pPr>
                      <a:r>
                        <a:rPr lang="en-US" sz="1400" dirty="0"/>
                        <a:t>AI-Based 3D Room Decor Visualization System (2024)</a:t>
                      </a:r>
                    </a:p>
                  </a:txBody>
                  <a:tcPr anchor="ctr"/>
                </a:tc>
                <a:tc>
                  <a:txBody>
                    <a:bodyPr/>
                    <a:lstStyle/>
                    <a:p>
                      <a:pPr>
                        <a:buNone/>
                      </a:pPr>
                      <a:r>
                        <a:rPr lang="en-IN" sz="1400" dirty="0"/>
                        <a:t>R. Das et al., </a:t>
                      </a:r>
                      <a:r>
                        <a:rPr lang="en-IN" sz="1400" i="1" dirty="0"/>
                        <a:t>Elsevier Future Generation CS</a:t>
                      </a:r>
                      <a:endParaRPr lang="da-DK" sz="1400" dirty="0"/>
                    </a:p>
                  </a:txBody>
                  <a:tcPr anchor="ctr"/>
                </a:tc>
                <a:tc>
                  <a:txBody>
                    <a:bodyPr/>
                    <a:lstStyle/>
                    <a:p>
                      <a:pPr>
                        <a:buNone/>
                      </a:pPr>
                      <a:r>
                        <a:rPr lang="en-IN" sz="1400" dirty="0"/>
                        <a:t>GANs, CNN</a:t>
                      </a:r>
                    </a:p>
                  </a:txBody>
                  <a:tcPr anchor="ctr"/>
                </a:tc>
                <a:tc>
                  <a:txBody>
                    <a:bodyPr/>
                    <a:lstStyle/>
                    <a:p>
                      <a:pPr>
                        <a:buNone/>
                      </a:pPr>
                      <a:r>
                        <a:rPr lang="en-IN" sz="1400" dirty="0"/>
                        <a:t>3D model generation, texture synthesis</a:t>
                      </a:r>
                      <a:endParaRPr lang="en-US" sz="1400" dirty="0"/>
                    </a:p>
                  </a:txBody>
                  <a:tcPr anchor="ctr"/>
                </a:tc>
                <a:tc>
                  <a:txBody>
                    <a:bodyPr/>
                    <a:lstStyle/>
                    <a:p>
                      <a:pPr>
                        <a:buNone/>
                      </a:pPr>
                      <a:r>
                        <a:rPr lang="en-IN" sz="1400" dirty="0"/>
                        <a:t>SSIM, User Feedback</a:t>
                      </a:r>
                    </a:p>
                  </a:txBody>
                  <a:tcPr anchor="ctr"/>
                </a:tc>
                <a:tc>
                  <a:txBody>
                    <a:bodyPr/>
                    <a:lstStyle/>
                    <a:p>
                      <a:pPr>
                        <a:buNone/>
                      </a:pPr>
                      <a:r>
                        <a:rPr lang="en-US" sz="1400" dirty="0"/>
                        <a:t>Generated realistic decor layouts with high visual similarity</a:t>
                      </a:r>
                    </a:p>
                  </a:txBody>
                  <a:tcPr anchor="ctr"/>
                </a:tc>
                <a:extLst>
                  <a:ext uri="{0D108BD9-81ED-4DB2-BD59-A6C34878D82A}">
                    <a16:rowId xmlns:a16="http://schemas.microsoft.com/office/drawing/2014/main" val="1239409421"/>
                  </a:ext>
                </a:extLst>
              </a:tr>
              <a:tr h="1016410">
                <a:tc>
                  <a:txBody>
                    <a:bodyPr/>
                    <a:lstStyle/>
                    <a:p>
                      <a:pPr>
                        <a:buNone/>
                      </a:pPr>
                      <a:r>
                        <a:rPr lang="en-US" sz="1400" dirty="0"/>
                        <a:t>AI-Powered Personalized Interior Design System (2023)</a:t>
                      </a:r>
                    </a:p>
                  </a:txBody>
                  <a:tcPr anchor="ctr"/>
                </a:tc>
                <a:tc>
                  <a:txBody>
                    <a:bodyPr/>
                    <a:lstStyle/>
                    <a:p>
                      <a:pPr>
                        <a:buNone/>
                      </a:pPr>
                      <a:r>
                        <a:rPr lang="en-IN" sz="1400" dirty="0"/>
                        <a:t>J. Thomas, A. Paul, </a:t>
                      </a:r>
                      <a:r>
                        <a:rPr lang="en-IN" sz="1400" i="1" dirty="0"/>
                        <a:t>IEEE Smart Systems Journal</a:t>
                      </a:r>
                      <a:endParaRPr lang="fr-FR" sz="1400" dirty="0"/>
                    </a:p>
                  </a:txBody>
                  <a:tcPr anchor="ctr"/>
                </a:tc>
                <a:tc>
                  <a:txBody>
                    <a:bodyPr/>
                    <a:lstStyle/>
                    <a:p>
                      <a:pPr>
                        <a:buNone/>
                      </a:pPr>
                      <a:r>
                        <a:rPr lang="en-IN" sz="1400" dirty="0"/>
                        <a:t>CNN + Collaborative Filtering</a:t>
                      </a:r>
                    </a:p>
                  </a:txBody>
                  <a:tcPr anchor="ctr"/>
                </a:tc>
                <a:tc>
                  <a:txBody>
                    <a:bodyPr/>
                    <a:lstStyle/>
                    <a:p>
                      <a:pPr>
                        <a:buNone/>
                      </a:pPr>
                      <a:r>
                        <a:rPr lang="en-US" sz="1400" dirty="0"/>
                        <a:t>Style similarity, user behavior analysis</a:t>
                      </a:r>
                      <a:endParaRPr lang="en-IN" sz="1400" dirty="0"/>
                    </a:p>
                  </a:txBody>
                  <a:tcPr anchor="ctr"/>
                </a:tc>
                <a:tc>
                  <a:txBody>
                    <a:bodyPr/>
                    <a:lstStyle/>
                    <a:p>
                      <a:pPr>
                        <a:buNone/>
                      </a:pPr>
                      <a:r>
                        <a:rPr lang="en-IN" sz="1400" dirty="0"/>
                        <a:t>Recommendation Accuracy</a:t>
                      </a:r>
                    </a:p>
                  </a:txBody>
                  <a:tcPr anchor="ctr"/>
                </a:tc>
                <a:tc>
                  <a:txBody>
                    <a:bodyPr/>
                    <a:lstStyle/>
                    <a:p>
                      <a:pPr>
                        <a:buNone/>
                      </a:pPr>
                      <a:r>
                        <a:rPr lang="en-US" sz="1400" dirty="0"/>
                        <a:t>Personalization improved user satisfaction by 32%</a:t>
                      </a:r>
                    </a:p>
                  </a:txBody>
                  <a:tcPr anchor="ctr"/>
                </a:tc>
                <a:extLst>
                  <a:ext uri="{0D108BD9-81ED-4DB2-BD59-A6C34878D82A}">
                    <a16:rowId xmlns:a16="http://schemas.microsoft.com/office/drawing/2014/main" val="1422007275"/>
                  </a:ext>
                </a:extLst>
              </a:tr>
            </a:tbl>
          </a:graphicData>
        </a:graphic>
      </p:graphicFrame>
    </p:spTree>
    <p:extLst>
      <p:ext uri="{BB962C8B-B14F-4D97-AF65-F5344CB8AC3E}">
        <p14:creationId xmlns:p14="http://schemas.microsoft.com/office/powerpoint/2010/main" val="3427900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590931"/>
          </a:xfrm>
        </p:spPr>
        <p:txBody>
          <a:bodyPr/>
          <a:lstStyle/>
          <a:p>
            <a:r>
              <a:rPr lang="en-US" sz="3600" dirty="0">
                <a:latin typeface="Times New Roman" panose="02020603050405020304" pitchFamily="18" charset="0"/>
                <a:cs typeface="Times New Roman" panose="02020603050405020304" pitchFamily="18" charset="0"/>
              </a:rPr>
              <a:t>Modules of  Proposed System</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
        <p:nvSpPr>
          <p:cNvPr id="10" name="Rectangle 9">
            <a:extLst>
              <a:ext uri="{FF2B5EF4-FFF2-40B4-BE49-F238E27FC236}">
                <a16:creationId xmlns:a16="http://schemas.microsoft.com/office/drawing/2014/main" id="{114B44B8-B4CF-4ADB-AD30-960C2D5D2103}"/>
              </a:ext>
            </a:extLst>
          </p:cNvPr>
          <p:cNvSpPr/>
          <p:nvPr/>
        </p:nvSpPr>
        <p:spPr>
          <a:xfrm>
            <a:off x="1004951" y="1970139"/>
            <a:ext cx="4777283" cy="2535566"/>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User Interface Module</a:t>
            </a:r>
          </a:p>
          <a:p>
            <a:pPr marL="285750" indent="-28575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Image Processing Module</a:t>
            </a:r>
          </a:p>
          <a:p>
            <a:pPr marL="285750" indent="-28575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Preference Analysis Module</a:t>
            </a:r>
          </a:p>
          <a:p>
            <a:pPr marL="285750" indent="-28575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AI Design Generation Module</a:t>
            </a:r>
          </a:p>
          <a:p>
            <a:pPr marL="285750" indent="-28575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Design Recommendation Module</a:t>
            </a:r>
          </a:p>
          <a:p>
            <a:pPr marL="285750" indent="-28575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Visualization &amp; Output Module</a:t>
            </a:r>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0E9D4-0A8E-481F-9BC4-A79D89FF770F}"/>
              </a:ext>
            </a:extLst>
          </p:cNvPr>
          <p:cNvSpPr>
            <a:spLocks noGrp="1"/>
          </p:cNvSpPr>
          <p:nvPr>
            <p:ph type="title"/>
          </p:nvPr>
        </p:nvSpPr>
        <p:spPr>
          <a:xfrm>
            <a:off x="444500" y="542925"/>
            <a:ext cx="11214100" cy="590931"/>
          </a:xfrm>
        </p:spPr>
        <p:txBody>
          <a:bodyPr/>
          <a:lstStyle/>
          <a:p>
            <a:r>
              <a:rPr lang="en-US" sz="3600" dirty="0">
                <a:latin typeface="Times New Roman" panose="02020603050405020304" pitchFamily="18" charset="0"/>
                <a:cs typeface="Times New Roman" panose="02020603050405020304" pitchFamily="18" charset="0"/>
              </a:rPr>
              <a:t>Tools and Technologies</a:t>
            </a:r>
          </a:p>
        </p:txBody>
      </p:sp>
      <p:sp>
        <p:nvSpPr>
          <p:cNvPr id="3" name="Slide Number Placeholder 2">
            <a:extLst>
              <a:ext uri="{FF2B5EF4-FFF2-40B4-BE49-F238E27FC236}">
                <a16:creationId xmlns:a16="http://schemas.microsoft.com/office/drawing/2014/main" id="{C6DF508F-CC94-40D4-AF08-2B58707A40A4}"/>
              </a:ext>
            </a:extLst>
          </p:cNvPr>
          <p:cNvSpPr>
            <a:spLocks noGrp="1"/>
          </p:cNvSpPr>
          <p:nvPr>
            <p:ph type="sldNum" sz="quarter" idx="12"/>
          </p:nvPr>
        </p:nvSpPr>
        <p:spPr/>
        <p:txBody>
          <a:bodyPr/>
          <a:lstStyle/>
          <a:p>
            <a:fld id="{C263D6C4-4840-40CC-AC84-17E24B3B7BDE}" type="slidenum">
              <a:rPr lang="en-US" noProof="0" smtClean="0"/>
              <a:pPr/>
              <a:t>9</a:t>
            </a:fld>
            <a:endParaRPr lang="en-US" noProof="0" dirty="0"/>
          </a:p>
        </p:txBody>
      </p:sp>
      <p:sp>
        <p:nvSpPr>
          <p:cNvPr id="8" name="TextBox 7">
            <a:extLst>
              <a:ext uri="{FF2B5EF4-FFF2-40B4-BE49-F238E27FC236}">
                <a16:creationId xmlns:a16="http://schemas.microsoft.com/office/drawing/2014/main" id="{5E598BDB-AAD7-43DE-A675-B1D123DCA2C6}"/>
              </a:ext>
            </a:extLst>
          </p:cNvPr>
          <p:cNvSpPr txBox="1"/>
          <p:nvPr/>
        </p:nvSpPr>
        <p:spPr>
          <a:xfrm>
            <a:off x="1757082" y="2106706"/>
            <a:ext cx="3774142" cy="3782061"/>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US" dirty="0">
                <a:solidFill>
                  <a:schemeClr val="bg1"/>
                </a:solidFill>
                <a:latin typeface="Times New Roman" panose="02020603050405020304" pitchFamily="18" charset="0"/>
                <a:cs typeface="Times New Roman" panose="02020603050405020304" pitchFamily="18" charset="0"/>
              </a:rPr>
              <a:t>Front-End</a:t>
            </a:r>
          </a:p>
          <a:p>
            <a:pPr>
              <a:lnSpc>
                <a:spcPct val="150000"/>
              </a:lnSpc>
            </a:pPr>
            <a:r>
              <a:rPr lang="en-US" dirty="0">
                <a:solidFill>
                  <a:schemeClr val="bg1"/>
                </a:solidFill>
                <a:latin typeface="Times New Roman" panose="02020603050405020304" pitchFamily="18" charset="0"/>
                <a:cs typeface="Times New Roman" panose="02020603050405020304" pitchFamily="18" charset="0"/>
              </a:rPr>
              <a:t>      - HTML</a:t>
            </a:r>
          </a:p>
          <a:p>
            <a:pPr>
              <a:lnSpc>
                <a:spcPct val="150000"/>
              </a:lnSpc>
            </a:pPr>
            <a:r>
              <a:rPr lang="en-US" dirty="0">
                <a:solidFill>
                  <a:schemeClr val="bg1"/>
                </a:solidFill>
                <a:latin typeface="Times New Roman" panose="02020603050405020304" pitchFamily="18" charset="0"/>
                <a:cs typeface="Times New Roman" panose="02020603050405020304" pitchFamily="18" charset="0"/>
              </a:rPr>
              <a:t>      - CSS</a:t>
            </a:r>
          </a:p>
          <a:p>
            <a:pPr>
              <a:lnSpc>
                <a:spcPct val="150000"/>
              </a:lnSpc>
            </a:pPr>
            <a:r>
              <a:rPr lang="en-US" dirty="0">
                <a:solidFill>
                  <a:schemeClr val="bg1"/>
                </a:solidFill>
                <a:latin typeface="Times New Roman" panose="02020603050405020304" pitchFamily="18" charset="0"/>
                <a:cs typeface="Times New Roman" panose="02020603050405020304" pitchFamily="18" charset="0"/>
              </a:rPr>
              <a:t>      - JavaScript</a:t>
            </a:r>
          </a:p>
          <a:p>
            <a:pPr marL="285750" indent="-285750">
              <a:lnSpc>
                <a:spcPct val="150000"/>
              </a:lnSpc>
              <a:buFont typeface="Wingdings" panose="05000000000000000000" pitchFamily="2" charset="2"/>
              <a:buChar char="q"/>
            </a:pPr>
            <a:r>
              <a:rPr lang="en-US" dirty="0">
                <a:solidFill>
                  <a:schemeClr val="bg1"/>
                </a:solidFill>
                <a:latin typeface="Times New Roman" panose="02020603050405020304" pitchFamily="18" charset="0"/>
                <a:cs typeface="Times New Roman" panose="02020603050405020304" pitchFamily="18" charset="0"/>
              </a:rPr>
              <a:t>Back-End</a:t>
            </a:r>
          </a:p>
          <a:p>
            <a:pPr>
              <a:lnSpc>
                <a:spcPct val="150000"/>
              </a:lnSpc>
            </a:pPr>
            <a:r>
              <a:rPr lang="en-US" dirty="0">
                <a:solidFill>
                  <a:schemeClr val="bg1"/>
                </a:solidFill>
                <a:latin typeface="Times New Roman" panose="02020603050405020304" pitchFamily="18" charset="0"/>
                <a:cs typeface="Times New Roman" panose="02020603050405020304" pitchFamily="18" charset="0"/>
              </a:rPr>
              <a:t>      - Python</a:t>
            </a:r>
          </a:p>
          <a:p>
            <a:pPr marL="285750" indent="-285750">
              <a:lnSpc>
                <a:spcPct val="150000"/>
              </a:lnSpc>
              <a:buFont typeface="Wingdings" panose="05000000000000000000" pitchFamily="2" charset="2"/>
              <a:buChar char="q"/>
            </a:pPr>
            <a:r>
              <a:rPr lang="en-US" dirty="0">
                <a:solidFill>
                  <a:schemeClr val="bg1"/>
                </a:solidFill>
                <a:latin typeface="Times New Roman" panose="02020603050405020304" pitchFamily="18" charset="0"/>
                <a:cs typeface="Times New Roman" panose="02020603050405020304" pitchFamily="18" charset="0"/>
              </a:rPr>
              <a:t>Database</a:t>
            </a:r>
          </a:p>
          <a:p>
            <a:pPr>
              <a:lnSpc>
                <a:spcPct val="150000"/>
              </a:lnSpc>
            </a:pPr>
            <a:r>
              <a:rPr lang="en-US" dirty="0">
                <a:solidFill>
                  <a:schemeClr val="bg1"/>
                </a:solidFill>
                <a:latin typeface="Times New Roman" panose="02020603050405020304" pitchFamily="18" charset="0"/>
                <a:cs typeface="Times New Roman" panose="02020603050405020304" pitchFamily="18" charset="0"/>
              </a:rPr>
              <a:t>      - SQL</a:t>
            </a:r>
          </a:p>
          <a:p>
            <a:pPr>
              <a:lnSpc>
                <a:spcPct val="150000"/>
              </a:lnSpc>
            </a:pP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4832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E8AB9E-E012-4DBF-833B-3F31A66453C1}"/>
              </a:ext>
            </a:extLst>
          </p:cNvPr>
          <p:cNvSpPr>
            <a:spLocks noGrp="1"/>
          </p:cNvSpPr>
          <p:nvPr>
            <p:ph type="sldNum" sz="quarter" idx="12"/>
          </p:nvPr>
        </p:nvSpPr>
        <p:spPr/>
        <p:txBody>
          <a:bodyPr/>
          <a:lstStyle/>
          <a:p>
            <a:fld id="{C263D6C4-4840-40CC-AC84-17E24B3B7BDE}" type="slidenum">
              <a:rPr lang="en-US" noProof="0" smtClean="0"/>
              <a:pPr/>
              <a:t>10</a:t>
            </a:fld>
            <a:endParaRPr lang="en-US" noProof="0" dirty="0"/>
          </a:p>
        </p:txBody>
      </p:sp>
      <p:sp>
        <p:nvSpPr>
          <p:cNvPr id="5" name="TextBox 4">
            <a:extLst>
              <a:ext uri="{FF2B5EF4-FFF2-40B4-BE49-F238E27FC236}">
                <a16:creationId xmlns:a16="http://schemas.microsoft.com/office/drawing/2014/main" id="{D461408D-C618-421D-9497-9CA7731F2B5A}"/>
              </a:ext>
            </a:extLst>
          </p:cNvPr>
          <p:cNvSpPr txBox="1"/>
          <p:nvPr/>
        </p:nvSpPr>
        <p:spPr>
          <a:xfrm>
            <a:off x="876693" y="443059"/>
            <a:ext cx="5524107" cy="523220"/>
          </a:xfrm>
          <a:prstGeom prst="rect">
            <a:avLst/>
          </a:prstGeom>
          <a:noFill/>
        </p:spPr>
        <p:txBody>
          <a:bodyPr wrap="square" rtlCol="0">
            <a:spAutoFit/>
          </a:bodyPr>
          <a:lstStyle/>
          <a:p>
            <a:r>
              <a:rPr lang="en-US" sz="2800" b="1" dirty="0">
                <a:solidFill>
                  <a:schemeClr val="bg1"/>
                </a:solidFill>
              </a:rPr>
              <a:t>DESIGN AND DIAGRAMS </a:t>
            </a:r>
          </a:p>
        </p:txBody>
      </p:sp>
      <p:sp>
        <p:nvSpPr>
          <p:cNvPr id="6" name="TextBox 5">
            <a:extLst>
              <a:ext uri="{FF2B5EF4-FFF2-40B4-BE49-F238E27FC236}">
                <a16:creationId xmlns:a16="http://schemas.microsoft.com/office/drawing/2014/main" id="{D919A3BB-DF15-48DF-AD36-75DD22E1182C}"/>
              </a:ext>
            </a:extLst>
          </p:cNvPr>
          <p:cNvSpPr txBox="1"/>
          <p:nvPr/>
        </p:nvSpPr>
        <p:spPr>
          <a:xfrm>
            <a:off x="537328" y="1249019"/>
            <a:ext cx="5005633" cy="338554"/>
          </a:xfrm>
          <a:prstGeom prst="rect">
            <a:avLst/>
          </a:prstGeom>
          <a:noFill/>
        </p:spPr>
        <p:txBody>
          <a:bodyPr wrap="square" rtlCol="0">
            <a:spAutoFit/>
          </a:bodyPr>
          <a:lstStyle/>
          <a:p>
            <a:r>
              <a:rPr lang="en-US" sz="1600" dirty="0">
                <a:solidFill>
                  <a:schemeClr val="bg1"/>
                </a:solidFill>
              </a:rPr>
              <a:t>LEVEL ZERO DFD</a:t>
            </a:r>
          </a:p>
        </p:txBody>
      </p:sp>
      <p:pic>
        <p:nvPicPr>
          <p:cNvPr id="4" name="Picture 3">
            <a:extLst>
              <a:ext uri="{FF2B5EF4-FFF2-40B4-BE49-F238E27FC236}">
                <a16:creationId xmlns:a16="http://schemas.microsoft.com/office/drawing/2014/main" id="{5BFC72C7-C2A9-2319-7BA8-7B841A627447}"/>
              </a:ext>
            </a:extLst>
          </p:cNvPr>
          <p:cNvPicPr>
            <a:picLocks noChangeAspect="1"/>
          </p:cNvPicPr>
          <p:nvPr/>
        </p:nvPicPr>
        <p:blipFill>
          <a:blip r:embed="rId2"/>
          <a:stretch>
            <a:fillRect/>
          </a:stretch>
        </p:blipFill>
        <p:spPr>
          <a:xfrm>
            <a:off x="1101436" y="2960110"/>
            <a:ext cx="10463646" cy="2828925"/>
          </a:xfrm>
          <a:prstGeom prst="rect">
            <a:avLst/>
          </a:prstGeom>
        </p:spPr>
      </p:pic>
    </p:spTree>
    <p:extLst>
      <p:ext uri="{BB962C8B-B14F-4D97-AF65-F5344CB8AC3E}">
        <p14:creationId xmlns:p14="http://schemas.microsoft.com/office/powerpoint/2010/main" val="2331600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F5832B-4D0D-4BD6-A5EE-BE2D3859AD36}"/>
              </a:ext>
            </a:extLst>
          </p:cNvPr>
          <p:cNvSpPr>
            <a:spLocks noGrp="1"/>
          </p:cNvSpPr>
          <p:nvPr>
            <p:ph type="sldNum" sz="quarter" idx="12"/>
          </p:nvPr>
        </p:nvSpPr>
        <p:spPr/>
        <p:txBody>
          <a:bodyPr/>
          <a:lstStyle/>
          <a:p>
            <a:fld id="{C263D6C4-4840-40CC-AC84-17E24B3B7BDE}" type="slidenum">
              <a:rPr lang="en-US" noProof="0" smtClean="0"/>
              <a:pPr/>
              <a:t>11</a:t>
            </a:fld>
            <a:endParaRPr lang="en-US" noProof="0" dirty="0"/>
          </a:p>
        </p:txBody>
      </p:sp>
      <p:sp>
        <p:nvSpPr>
          <p:cNvPr id="3" name="TextBox 2">
            <a:extLst>
              <a:ext uri="{FF2B5EF4-FFF2-40B4-BE49-F238E27FC236}">
                <a16:creationId xmlns:a16="http://schemas.microsoft.com/office/drawing/2014/main" id="{951C403A-87EB-406D-9476-7B38C96EA4BC}"/>
              </a:ext>
            </a:extLst>
          </p:cNvPr>
          <p:cNvSpPr txBox="1"/>
          <p:nvPr/>
        </p:nvSpPr>
        <p:spPr>
          <a:xfrm>
            <a:off x="904974" y="328341"/>
            <a:ext cx="3431356" cy="369332"/>
          </a:xfrm>
          <a:prstGeom prst="rect">
            <a:avLst/>
          </a:prstGeom>
          <a:noFill/>
        </p:spPr>
        <p:txBody>
          <a:bodyPr wrap="square" rtlCol="0">
            <a:spAutoFit/>
          </a:bodyPr>
          <a:lstStyle/>
          <a:p>
            <a:r>
              <a:rPr lang="en-US" dirty="0">
                <a:solidFill>
                  <a:schemeClr val="bg1"/>
                </a:solidFill>
              </a:rPr>
              <a:t>LEVEL ONE DFD</a:t>
            </a:r>
          </a:p>
        </p:txBody>
      </p:sp>
      <p:pic>
        <p:nvPicPr>
          <p:cNvPr id="5" name="Picture 4">
            <a:extLst>
              <a:ext uri="{FF2B5EF4-FFF2-40B4-BE49-F238E27FC236}">
                <a16:creationId xmlns:a16="http://schemas.microsoft.com/office/drawing/2014/main" id="{8989C6E9-9EA3-4669-97CA-06DA932791FD}"/>
              </a:ext>
            </a:extLst>
          </p:cNvPr>
          <p:cNvPicPr>
            <a:picLocks noChangeAspect="1"/>
          </p:cNvPicPr>
          <p:nvPr/>
        </p:nvPicPr>
        <p:blipFill>
          <a:blip r:embed="rId2"/>
          <a:stretch>
            <a:fillRect/>
          </a:stretch>
        </p:blipFill>
        <p:spPr>
          <a:xfrm>
            <a:off x="1385740" y="1138123"/>
            <a:ext cx="10605153" cy="5542077"/>
          </a:xfrm>
          <a:prstGeom prst="rect">
            <a:avLst/>
          </a:prstGeom>
        </p:spPr>
      </p:pic>
    </p:spTree>
    <p:extLst>
      <p:ext uri="{BB962C8B-B14F-4D97-AF65-F5344CB8AC3E}">
        <p14:creationId xmlns:p14="http://schemas.microsoft.com/office/powerpoint/2010/main" val="2603570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A45225-374E-45EE-87F8-E4AE85EF6A3B}"/>
              </a:ext>
            </a:extLst>
          </p:cNvPr>
          <p:cNvSpPr>
            <a:spLocks noGrp="1"/>
          </p:cNvSpPr>
          <p:nvPr>
            <p:ph type="sldNum" sz="quarter" idx="12"/>
          </p:nvPr>
        </p:nvSpPr>
        <p:spPr/>
        <p:txBody>
          <a:bodyPr/>
          <a:lstStyle/>
          <a:p>
            <a:fld id="{C263D6C4-4840-40CC-AC84-17E24B3B7BDE}" type="slidenum">
              <a:rPr lang="en-US" noProof="0" smtClean="0"/>
              <a:pPr/>
              <a:t>12</a:t>
            </a:fld>
            <a:endParaRPr lang="en-US" noProof="0" dirty="0"/>
          </a:p>
        </p:txBody>
      </p:sp>
      <p:sp>
        <p:nvSpPr>
          <p:cNvPr id="3" name="TextBox 2">
            <a:extLst>
              <a:ext uri="{FF2B5EF4-FFF2-40B4-BE49-F238E27FC236}">
                <a16:creationId xmlns:a16="http://schemas.microsoft.com/office/drawing/2014/main" id="{11641BF6-8CC0-4EAD-8E84-CAD3DC26E17D}"/>
              </a:ext>
            </a:extLst>
          </p:cNvPr>
          <p:cNvSpPr txBox="1"/>
          <p:nvPr/>
        </p:nvSpPr>
        <p:spPr>
          <a:xfrm>
            <a:off x="1074656" y="433633"/>
            <a:ext cx="3949831" cy="369332"/>
          </a:xfrm>
          <a:prstGeom prst="rect">
            <a:avLst/>
          </a:prstGeom>
          <a:noFill/>
        </p:spPr>
        <p:txBody>
          <a:bodyPr wrap="square" rtlCol="0">
            <a:spAutoFit/>
          </a:bodyPr>
          <a:lstStyle/>
          <a:p>
            <a:r>
              <a:rPr lang="en-US" dirty="0">
                <a:solidFill>
                  <a:schemeClr val="bg1"/>
                </a:solidFill>
              </a:rPr>
              <a:t>USE CASE DIAGRAM</a:t>
            </a:r>
          </a:p>
        </p:txBody>
      </p:sp>
      <p:pic>
        <p:nvPicPr>
          <p:cNvPr id="4" name="Picture 3">
            <a:extLst>
              <a:ext uri="{FF2B5EF4-FFF2-40B4-BE49-F238E27FC236}">
                <a16:creationId xmlns:a16="http://schemas.microsoft.com/office/drawing/2014/main" id="{908DC8F1-31DC-4294-A2AD-9951CB0B7552}"/>
              </a:ext>
            </a:extLst>
          </p:cNvPr>
          <p:cNvPicPr>
            <a:picLocks noChangeAspect="1"/>
          </p:cNvPicPr>
          <p:nvPr/>
        </p:nvPicPr>
        <p:blipFill>
          <a:blip r:embed="rId2"/>
          <a:stretch>
            <a:fillRect/>
          </a:stretch>
        </p:blipFill>
        <p:spPr>
          <a:xfrm>
            <a:off x="2234153" y="876234"/>
            <a:ext cx="9125146" cy="5621403"/>
          </a:xfrm>
          <a:prstGeom prst="rect">
            <a:avLst/>
          </a:prstGeom>
        </p:spPr>
      </p:pic>
    </p:spTree>
    <p:extLst>
      <p:ext uri="{BB962C8B-B14F-4D97-AF65-F5344CB8AC3E}">
        <p14:creationId xmlns:p14="http://schemas.microsoft.com/office/powerpoint/2010/main" val="2201202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5F8F77-E5E1-4FD4-B559-754D502FED82}"/>
              </a:ext>
            </a:extLst>
          </p:cNvPr>
          <p:cNvSpPr>
            <a:spLocks noGrp="1"/>
          </p:cNvSpPr>
          <p:nvPr>
            <p:ph type="sldNum" sz="quarter" idx="12"/>
          </p:nvPr>
        </p:nvSpPr>
        <p:spPr/>
        <p:txBody>
          <a:bodyPr/>
          <a:lstStyle/>
          <a:p>
            <a:fld id="{C263D6C4-4840-40CC-AC84-17E24B3B7BDE}" type="slidenum">
              <a:rPr lang="en-US" noProof="0" smtClean="0"/>
              <a:pPr/>
              <a:t>13</a:t>
            </a:fld>
            <a:endParaRPr lang="en-US" noProof="0" dirty="0"/>
          </a:p>
        </p:txBody>
      </p:sp>
      <p:sp>
        <p:nvSpPr>
          <p:cNvPr id="3" name="TextBox 2">
            <a:extLst>
              <a:ext uri="{FF2B5EF4-FFF2-40B4-BE49-F238E27FC236}">
                <a16:creationId xmlns:a16="http://schemas.microsoft.com/office/drawing/2014/main" id="{3B56C637-637E-43B6-A0A9-ED510FFA2231}"/>
              </a:ext>
            </a:extLst>
          </p:cNvPr>
          <p:cNvSpPr txBox="1"/>
          <p:nvPr/>
        </p:nvSpPr>
        <p:spPr>
          <a:xfrm>
            <a:off x="1008668" y="245097"/>
            <a:ext cx="3403077" cy="369332"/>
          </a:xfrm>
          <a:prstGeom prst="rect">
            <a:avLst/>
          </a:prstGeom>
          <a:noFill/>
        </p:spPr>
        <p:txBody>
          <a:bodyPr wrap="square" rtlCol="0">
            <a:spAutoFit/>
          </a:bodyPr>
          <a:lstStyle/>
          <a:p>
            <a:r>
              <a:rPr lang="en-US" dirty="0">
                <a:solidFill>
                  <a:schemeClr val="bg1"/>
                </a:solidFill>
              </a:rPr>
              <a:t>CLASS DIAGRAM</a:t>
            </a:r>
          </a:p>
        </p:txBody>
      </p:sp>
      <p:pic>
        <p:nvPicPr>
          <p:cNvPr id="4" name="Picture 3">
            <a:extLst>
              <a:ext uri="{FF2B5EF4-FFF2-40B4-BE49-F238E27FC236}">
                <a16:creationId xmlns:a16="http://schemas.microsoft.com/office/drawing/2014/main" id="{2759DFEF-6763-432A-8DB1-A7E3B56B2006}"/>
              </a:ext>
            </a:extLst>
          </p:cNvPr>
          <p:cNvPicPr>
            <a:picLocks noChangeAspect="1"/>
          </p:cNvPicPr>
          <p:nvPr/>
        </p:nvPicPr>
        <p:blipFill>
          <a:blip r:embed="rId2"/>
          <a:stretch>
            <a:fillRect/>
          </a:stretch>
        </p:blipFill>
        <p:spPr>
          <a:xfrm>
            <a:off x="3831099" y="517632"/>
            <a:ext cx="7509346" cy="6269668"/>
          </a:xfrm>
          <a:prstGeom prst="rect">
            <a:avLst/>
          </a:prstGeom>
        </p:spPr>
      </p:pic>
    </p:spTree>
    <p:extLst>
      <p:ext uri="{BB962C8B-B14F-4D97-AF65-F5344CB8AC3E}">
        <p14:creationId xmlns:p14="http://schemas.microsoft.com/office/powerpoint/2010/main" val="1383506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158E1C-2062-48AF-B05F-C57038992F30}"/>
              </a:ext>
            </a:extLst>
          </p:cNvPr>
          <p:cNvSpPr>
            <a:spLocks noGrp="1"/>
          </p:cNvSpPr>
          <p:nvPr>
            <p:ph type="sldNum" sz="quarter" idx="12"/>
          </p:nvPr>
        </p:nvSpPr>
        <p:spPr/>
        <p:txBody>
          <a:bodyPr/>
          <a:lstStyle/>
          <a:p>
            <a:fld id="{C263D6C4-4840-40CC-AC84-17E24B3B7BDE}" type="slidenum">
              <a:rPr lang="en-US" noProof="0" smtClean="0"/>
              <a:pPr/>
              <a:t>14</a:t>
            </a:fld>
            <a:endParaRPr lang="en-US" noProof="0" dirty="0"/>
          </a:p>
        </p:txBody>
      </p:sp>
      <p:sp>
        <p:nvSpPr>
          <p:cNvPr id="3" name="TextBox 2">
            <a:extLst>
              <a:ext uri="{FF2B5EF4-FFF2-40B4-BE49-F238E27FC236}">
                <a16:creationId xmlns:a16="http://schemas.microsoft.com/office/drawing/2014/main" id="{83B3A9B8-CBE1-40FA-9D37-242E2D8D52DD}"/>
              </a:ext>
            </a:extLst>
          </p:cNvPr>
          <p:cNvSpPr txBox="1"/>
          <p:nvPr/>
        </p:nvSpPr>
        <p:spPr>
          <a:xfrm>
            <a:off x="1055802" y="329938"/>
            <a:ext cx="3139126" cy="369332"/>
          </a:xfrm>
          <a:prstGeom prst="rect">
            <a:avLst/>
          </a:prstGeom>
          <a:noFill/>
        </p:spPr>
        <p:txBody>
          <a:bodyPr wrap="square" rtlCol="0">
            <a:spAutoFit/>
          </a:bodyPr>
          <a:lstStyle/>
          <a:p>
            <a:r>
              <a:rPr lang="en-US" dirty="0">
                <a:solidFill>
                  <a:schemeClr val="bg1"/>
                </a:solidFill>
              </a:rPr>
              <a:t>STATE DIAGRAM</a:t>
            </a:r>
          </a:p>
        </p:txBody>
      </p:sp>
      <p:pic>
        <p:nvPicPr>
          <p:cNvPr id="4" name="Picture 3">
            <a:extLst>
              <a:ext uri="{FF2B5EF4-FFF2-40B4-BE49-F238E27FC236}">
                <a16:creationId xmlns:a16="http://schemas.microsoft.com/office/drawing/2014/main" id="{F53EB8A9-3C6A-4257-894E-FFE379C52E7F}"/>
              </a:ext>
            </a:extLst>
          </p:cNvPr>
          <p:cNvPicPr>
            <a:picLocks noChangeAspect="1"/>
          </p:cNvPicPr>
          <p:nvPr/>
        </p:nvPicPr>
        <p:blipFill>
          <a:blip r:embed="rId2"/>
          <a:stretch>
            <a:fillRect/>
          </a:stretch>
        </p:blipFill>
        <p:spPr>
          <a:xfrm>
            <a:off x="3421930" y="829558"/>
            <a:ext cx="6683604" cy="5759777"/>
          </a:xfrm>
          <a:prstGeom prst="rect">
            <a:avLst/>
          </a:prstGeom>
        </p:spPr>
      </p:pic>
    </p:spTree>
    <p:extLst>
      <p:ext uri="{BB962C8B-B14F-4D97-AF65-F5344CB8AC3E}">
        <p14:creationId xmlns:p14="http://schemas.microsoft.com/office/powerpoint/2010/main" val="1154764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192BAD-CF11-43ED-907E-3B8C095562BC}"/>
              </a:ext>
            </a:extLst>
          </p:cNvPr>
          <p:cNvSpPr>
            <a:spLocks noGrp="1"/>
          </p:cNvSpPr>
          <p:nvPr>
            <p:ph type="sldNum" sz="quarter" idx="12"/>
          </p:nvPr>
        </p:nvSpPr>
        <p:spPr/>
        <p:txBody>
          <a:bodyPr/>
          <a:lstStyle/>
          <a:p>
            <a:fld id="{C263D6C4-4840-40CC-AC84-17E24B3B7BDE}" type="slidenum">
              <a:rPr lang="en-US" noProof="0" smtClean="0"/>
              <a:pPr/>
              <a:t>15</a:t>
            </a:fld>
            <a:endParaRPr lang="en-US" noProof="0" dirty="0"/>
          </a:p>
        </p:txBody>
      </p:sp>
      <p:sp>
        <p:nvSpPr>
          <p:cNvPr id="3" name="TextBox 2">
            <a:extLst>
              <a:ext uri="{FF2B5EF4-FFF2-40B4-BE49-F238E27FC236}">
                <a16:creationId xmlns:a16="http://schemas.microsoft.com/office/drawing/2014/main" id="{6EF07E9A-5215-4EBF-9026-50FEE941A7B8}"/>
              </a:ext>
            </a:extLst>
          </p:cNvPr>
          <p:cNvSpPr txBox="1"/>
          <p:nvPr/>
        </p:nvSpPr>
        <p:spPr>
          <a:xfrm>
            <a:off x="1282045" y="414779"/>
            <a:ext cx="3252248" cy="369332"/>
          </a:xfrm>
          <a:prstGeom prst="rect">
            <a:avLst/>
          </a:prstGeom>
          <a:noFill/>
        </p:spPr>
        <p:txBody>
          <a:bodyPr wrap="square" rtlCol="0">
            <a:spAutoFit/>
          </a:bodyPr>
          <a:lstStyle/>
          <a:p>
            <a:r>
              <a:rPr lang="en-US" dirty="0">
                <a:solidFill>
                  <a:schemeClr val="bg1"/>
                </a:solidFill>
              </a:rPr>
              <a:t>ACTIVITY DIAGRAM</a:t>
            </a:r>
          </a:p>
        </p:txBody>
      </p:sp>
      <p:pic>
        <p:nvPicPr>
          <p:cNvPr id="4" name="Picture 3">
            <a:extLst>
              <a:ext uri="{FF2B5EF4-FFF2-40B4-BE49-F238E27FC236}">
                <a16:creationId xmlns:a16="http://schemas.microsoft.com/office/drawing/2014/main" id="{F6B14329-E3EF-4D3D-A666-3CA0BBDF6673}"/>
              </a:ext>
            </a:extLst>
          </p:cNvPr>
          <p:cNvPicPr>
            <a:picLocks noChangeAspect="1"/>
          </p:cNvPicPr>
          <p:nvPr/>
        </p:nvPicPr>
        <p:blipFill>
          <a:blip r:embed="rId2"/>
          <a:stretch>
            <a:fillRect/>
          </a:stretch>
        </p:blipFill>
        <p:spPr>
          <a:xfrm>
            <a:off x="2055043" y="876693"/>
            <a:ext cx="8559537" cy="5438382"/>
          </a:xfrm>
          <a:prstGeom prst="rect">
            <a:avLst/>
          </a:prstGeom>
        </p:spPr>
      </p:pic>
    </p:spTree>
    <p:extLst>
      <p:ext uri="{BB962C8B-B14F-4D97-AF65-F5344CB8AC3E}">
        <p14:creationId xmlns:p14="http://schemas.microsoft.com/office/powerpoint/2010/main" val="31163021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925580-D3E3-4871-B81F-638EF49D849F}"/>
              </a:ext>
            </a:extLst>
          </p:cNvPr>
          <p:cNvSpPr>
            <a:spLocks noGrp="1"/>
          </p:cNvSpPr>
          <p:nvPr>
            <p:ph type="sldNum" sz="quarter" idx="12"/>
          </p:nvPr>
        </p:nvSpPr>
        <p:spPr/>
        <p:txBody>
          <a:bodyPr/>
          <a:lstStyle/>
          <a:p>
            <a:fld id="{C263D6C4-4840-40CC-AC84-17E24B3B7BDE}" type="slidenum">
              <a:rPr lang="en-US" noProof="0" smtClean="0"/>
              <a:pPr/>
              <a:t>16</a:t>
            </a:fld>
            <a:endParaRPr lang="en-US" noProof="0" dirty="0"/>
          </a:p>
        </p:txBody>
      </p:sp>
      <p:sp>
        <p:nvSpPr>
          <p:cNvPr id="3" name="TextBox 2">
            <a:extLst>
              <a:ext uri="{FF2B5EF4-FFF2-40B4-BE49-F238E27FC236}">
                <a16:creationId xmlns:a16="http://schemas.microsoft.com/office/drawing/2014/main" id="{C33B790F-9286-4E27-8715-A96314418345}"/>
              </a:ext>
            </a:extLst>
          </p:cNvPr>
          <p:cNvSpPr txBox="1"/>
          <p:nvPr/>
        </p:nvSpPr>
        <p:spPr>
          <a:xfrm>
            <a:off x="1159497" y="235671"/>
            <a:ext cx="4072379" cy="369332"/>
          </a:xfrm>
          <a:prstGeom prst="rect">
            <a:avLst/>
          </a:prstGeom>
          <a:noFill/>
        </p:spPr>
        <p:txBody>
          <a:bodyPr wrap="square" rtlCol="0">
            <a:spAutoFit/>
          </a:bodyPr>
          <a:lstStyle/>
          <a:p>
            <a:r>
              <a:rPr lang="en-US" dirty="0">
                <a:solidFill>
                  <a:schemeClr val="bg1"/>
                </a:solidFill>
              </a:rPr>
              <a:t>SEQUENCE DIAGRAM</a:t>
            </a:r>
          </a:p>
        </p:txBody>
      </p:sp>
      <p:pic>
        <p:nvPicPr>
          <p:cNvPr id="4" name="Picture 3">
            <a:extLst>
              <a:ext uri="{FF2B5EF4-FFF2-40B4-BE49-F238E27FC236}">
                <a16:creationId xmlns:a16="http://schemas.microsoft.com/office/drawing/2014/main" id="{414CC80C-2B86-4EA0-ACCE-75871F0F4818}"/>
              </a:ext>
            </a:extLst>
          </p:cNvPr>
          <p:cNvPicPr>
            <a:picLocks noChangeAspect="1"/>
          </p:cNvPicPr>
          <p:nvPr/>
        </p:nvPicPr>
        <p:blipFill>
          <a:blip r:embed="rId2"/>
          <a:stretch>
            <a:fillRect/>
          </a:stretch>
        </p:blipFill>
        <p:spPr>
          <a:xfrm>
            <a:off x="1696824" y="820132"/>
            <a:ext cx="9555375" cy="5674936"/>
          </a:xfrm>
          <a:prstGeom prst="rect">
            <a:avLst/>
          </a:prstGeom>
        </p:spPr>
      </p:pic>
    </p:spTree>
    <p:extLst>
      <p:ext uri="{BB962C8B-B14F-4D97-AF65-F5344CB8AC3E}">
        <p14:creationId xmlns:p14="http://schemas.microsoft.com/office/powerpoint/2010/main" val="4064268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310305-DDAA-4DD9-A53D-92AD15A1158A}"/>
              </a:ext>
            </a:extLst>
          </p:cNvPr>
          <p:cNvSpPr>
            <a:spLocks noGrp="1"/>
          </p:cNvSpPr>
          <p:nvPr>
            <p:ph type="sldNum" sz="quarter" idx="12"/>
          </p:nvPr>
        </p:nvSpPr>
        <p:spPr/>
        <p:txBody>
          <a:bodyPr/>
          <a:lstStyle/>
          <a:p>
            <a:fld id="{C263D6C4-4840-40CC-AC84-17E24B3B7BDE}" type="slidenum">
              <a:rPr lang="en-US" noProof="0" smtClean="0"/>
              <a:pPr/>
              <a:t>17</a:t>
            </a:fld>
            <a:endParaRPr lang="en-US" noProof="0" dirty="0"/>
          </a:p>
        </p:txBody>
      </p:sp>
      <p:sp>
        <p:nvSpPr>
          <p:cNvPr id="3" name="TextBox 2">
            <a:extLst>
              <a:ext uri="{FF2B5EF4-FFF2-40B4-BE49-F238E27FC236}">
                <a16:creationId xmlns:a16="http://schemas.microsoft.com/office/drawing/2014/main" id="{B4E79F71-5234-4E30-8489-1EBE43AAD7AA}"/>
              </a:ext>
            </a:extLst>
          </p:cNvPr>
          <p:cNvSpPr txBox="1"/>
          <p:nvPr/>
        </p:nvSpPr>
        <p:spPr>
          <a:xfrm>
            <a:off x="999241" y="362089"/>
            <a:ext cx="4996206" cy="369332"/>
          </a:xfrm>
          <a:prstGeom prst="rect">
            <a:avLst/>
          </a:prstGeom>
          <a:noFill/>
        </p:spPr>
        <p:txBody>
          <a:bodyPr wrap="square" rtlCol="0">
            <a:spAutoFit/>
          </a:bodyPr>
          <a:lstStyle/>
          <a:p>
            <a:r>
              <a:rPr lang="en-US" dirty="0">
                <a:solidFill>
                  <a:schemeClr val="bg1"/>
                </a:solidFill>
              </a:rPr>
              <a:t>ARCHITECHTURE OF THE SYSTEM</a:t>
            </a:r>
          </a:p>
        </p:txBody>
      </p:sp>
      <p:pic>
        <p:nvPicPr>
          <p:cNvPr id="5" name="Picture 4">
            <a:extLst>
              <a:ext uri="{FF2B5EF4-FFF2-40B4-BE49-F238E27FC236}">
                <a16:creationId xmlns:a16="http://schemas.microsoft.com/office/drawing/2014/main" id="{1F3DA70D-5E5F-1C44-B683-37645E92B156}"/>
              </a:ext>
            </a:extLst>
          </p:cNvPr>
          <p:cNvPicPr>
            <a:picLocks noChangeAspect="1"/>
          </p:cNvPicPr>
          <p:nvPr/>
        </p:nvPicPr>
        <p:blipFill>
          <a:blip r:embed="rId2"/>
          <a:stretch>
            <a:fillRect/>
          </a:stretch>
        </p:blipFill>
        <p:spPr>
          <a:xfrm>
            <a:off x="841664" y="1068964"/>
            <a:ext cx="10816936" cy="5343525"/>
          </a:xfrm>
          <a:prstGeom prst="rect">
            <a:avLst/>
          </a:prstGeom>
        </p:spPr>
      </p:pic>
    </p:spTree>
    <p:extLst>
      <p:ext uri="{BB962C8B-B14F-4D97-AF65-F5344CB8AC3E}">
        <p14:creationId xmlns:p14="http://schemas.microsoft.com/office/powerpoint/2010/main" val="2226987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D04B7-90AE-9C14-72E6-3E61649150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BD9909-1318-A096-0A36-840BF66369BB}"/>
              </a:ext>
            </a:extLst>
          </p:cNvPr>
          <p:cNvSpPr>
            <a:spLocks noGrp="1"/>
          </p:cNvSpPr>
          <p:nvPr>
            <p:ph type="sldNum" sz="quarter" idx="12"/>
          </p:nvPr>
        </p:nvSpPr>
        <p:spPr/>
        <p:txBody>
          <a:bodyPr/>
          <a:lstStyle/>
          <a:p>
            <a:fld id="{C263D6C4-4840-40CC-AC84-17E24B3B7BDE}" type="slidenum">
              <a:rPr lang="en-US" noProof="0" smtClean="0"/>
              <a:pPr/>
              <a:t>18</a:t>
            </a:fld>
            <a:endParaRPr lang="en-US" noProof="0" dirty="0"/>
          </a:p>
        </p:txBody>
      </p:sp>
      <p:sp>
        <p:nvSpPr>
          <p:cNvPr id="3" name="TextBox 2">
            <a:extLst>
              <a:ext uri="{FF2B5EF4-FFF2-40B4-BE49-F238E27FC236}">
                <a16:creationId xmlns:a16="http://schemas.microsoft.com/office/drawing/2014/main" id="{7EEB11DC-5A95-E949-883F-C2B6720A6A2F}"/>
              </a:ext>
            </a:extLst>
          </p:cNvPr>
          <p:cNvSpPr txBox="1"/>
          <p:nvPr/>
        </p:nvSpPr>
        <p:spPr>
          <a:xfrm>
            <a:off x="999241" y="362089"/>
            <a:ext cx="4996206" cy="400110"/>
          </a:xfrm>
          <a:prstGeom prst="rect">
            <a:avLst/>
          </a:prstGeom>
          <a:noFill/>
        </p:spPr>
        <p:txBody>
          <a:bodyPr wrap="square" rtlCol="0">
            <a:spAutoFit/>
          </a:bodyPr>
          <a:lstStyle/>
          <a:p>
            <a:r>
              <a:rPr lang="en-US" sz="2000" dirty="0"/>
              <a:t>COMPARISON WITH EXISTING SYSTEM</a:t>
            </a:r>
            <a:endParaRPr lang="en-US" sz="2000" dirty="0">
              <a:solidFill>
                <a:schemeClr val="bg1"/>
              </a:solidFill>
            </a:endParaRPr>
          </a:p>
        </p:txBody>
      </p:sp>
      <p:graphicFrame>
        <p:nvGraphicFramePr>
          <p:cNvPr id="4" name="Table 3">
            <a:extLst>
              <a:ext uri="{FF2B5EF4-FFF2-40B4-BE49-F238E27FC236}">
                <a16:creationId xmlns:a16="http://schemas.microsoft.com/office/drawing/2014/main" id="{34676615-D137-FD6D-0710-50E129B95896}"/>
              </a:ext>
            </a:extLst>
          </p:cNvPr>
          <p:cNvGraphicFramePr>
            <a:graphicFrameLocks noGrp="1"/>
          </p:cNvGraphicFramePr>
          <p:nvPr>
            <p:extLst>
              <p:ext uri="{D42A27DB-BD31-4B8C-83A1-F6EECF244321}">
                <p14:modId xmlns:p14="http://schemas.microsoft.com/office/powerpoint/2010/main" val="2095495771"/>
              </p:ext>
            </p:extLst>
          </p:nvPr>
        </p:nvGraphicFramePr>
        <p:xfrm>
          <a:off x="426028" y="1540547"/>
          <a:ext cx="10826172" cy="4371880"/>
        </p:xfrm>
        <a:graphic>
          <a:graphicData uri="http://schemas.openxmlformats.org/drawingml/2006/table">
            <a:tbl>
              <a:tblPr firstRow="1" bandRow="1">
                <a:tableStyleId>{5C22544A-7EE6-4342-B048-85BDC9FD1C3A}</a:tableStyleId>
              </a:tblPr>
              <a:tblGrid>
                <a:gridCol w="3608724">
                  <a:extLst>
                    <a:ext uri="{9D8B030D-6E8A-4147-A177-3AD203B41FA5}">
                      <a16:colId xmlns:a16="http://schemas.microsoft.com/office/drawing/2014/main" val="2708950427"/>
                    </a:ext>
                  </a:extLst>
                </a:gridCol>
                <a:gridCol w="3608724">
                  <a:extLst>
                    <a:ext uri="{9D8B030D-6E8A-4147-A177-3AD203B41FA5}">
                      <a16:colId xmlns:a16="http://schemas.microsoft.com/office/drawing/2014/main" val="823478697"/>
                    </a:ext>
                  </a:extLst>
                </a:gridCol>
                <a:gridCol w="3608724">
                  <a:extLst>
                    <a:ext uri="{9D8B030D-6E8A-4147-A177-3AD203B41FA5}">
                      <a16:colId xmlns:a16="http://schemas.microsoft.com/office/drawing/2014/main" val="3082737092"/>
                    </a:ext>
                  </a:extLst>
                </a:gridCol>
              </a:tblGrid>
              <a:tr h="761602">
                <a:tc>
                  <a:txBody>
                    <a:bodyPr/>
                    <a:lstStyle/>
                    <a:p>
                      <a:r>
                        <a:rPr lang="en-IN" dirty="0"/>
                        <a:t>Feature</a:t>
                      </a:r>
                    </a:p>
                  </a:txBody>
                  <a:tcPr/>
                </a:tc>
                <a:tc>
                  <a:txBody>
                    <a:bodyPr/>
                    <a:lstStyle/>
                    <a:p>
                      <a:r>
                        <a:rPr lang="en-IN" dirty="0"/>
                        <a:t>Existing Smart Space</a:t>
                      </a:r>
                    </a:p>
                  </a:txBody>
                  <a:tcPr/>
                </a:tc>
                <a:tc>
                  <a:txBody>
                    <a:bodyPr/>
                    <a:lstStyle/>
                    <a:p>
                      <a:r>
                        <a:rPr lang="en-IN" dirty="0"/>
                        <a:t>Proposed Smart Space</a:t>
                      </a:r>
                    </a:p>
                  </a:txBody>
                  <a:tcPr/>
                </a:tc>
                <a:extLst>
                  <a:ext uri="{0D108BD9-81ED-4DB2-BD59-A6C34878D82A}">
                    <a16:rowId xmlns:a16="http://schemas.microsoft.com/office/drawing/2014/main" val="4214869280"/>
                  </a:ext>
                </a:extLst>
              </a:tr>
              <a:tr h="815224">
                <a:tc>
                  <a:txBody>
                    <a:bodyPr/>
                    <a:lstStyle/>
                    <a:p>
                      <a:r>
                        <a:rPr lang="en-IN" dirty="0"/>
                        <a:t>System Intelligence</a:t>
                      </a:r>
                    </a:p>
                  </a:txBody>
                  <a:tcPr/>
                </a:tc>
                <a:tc>
                  <a:txBody>
                    <a:bodyPr/>
                    <a:lstStyle/>
                    <a:p>
                      <a:r>
                        <a:rPr lang="en-IN" dirty="0"/>
                        <a:t>Low intelligence</a:t>
                      </a:r>
                    </a:p>
                  </a:txBody>
                  <a:tcPr/>
                </a:tc>
                <a:tc>
                  <a:txBody>
                    <a:bodyPr/>
                    <a:lstStyle/>
                    <a:p>
                      <a:r>
                        <a:rPr lang="en-US" dirty="0"/>
                        <a:t>High intelligence with learning capability</a:t>
                      </a:r>
                      <a:endParaRPr lang="en-IN" dirty="0"/>
                    </a:p>
                  </a:txBody>
                  <a:tcPr/>
                </a:tc>
                <a:extLst>
                  <a:ext uri="{0D108BD9-81ED-4DB2-BD59-A6C34878D82A}">
                    <a16:rowId xmlns:a16="http://schemas.microsoft.com/office/drawing/2014/main" val="2087550313"/>
                  </a:ext>
                </a:extLst>
              </a:tr>
              <a:tr h="815224">
                <a:tc>
                  <a:txBody>
                    <a:bodyPr/>
                    <a:lstStyle/>
                    <a:p>
                      <a:r>
                        <a:rPr lang="en-IN" dirty="0"/>
                        <a:t>Environmental Impact</a:t>
                      </a:r>
                    </a:p>
                  </a:txBody>
                  <a:tcPr/>
                </a:tc>
                <a:tc>
                  <a:txBody>
                    <a:bodyPr/>
                    <a:lstStyle/>
                    <a:p>
                      <a:r>
                        <a:rPr lang="en-IN" dirty="0"/>
                        <a:t>Higher energy wastage</a:t>
                      </a:r>
                    </a:p>
                  </a:txBody>
                  <a:tcPr/>
                </a:tc>
                <a:tc>
                  <a:txBody>
                    <a:bodyPr/>
                    <a:lstStyle/>
                    <a:p>
                      <a:r>
                        <a:rPr lang="en-IN" dirty="0"/>
                        <a:t>Energy-efficient and eco-friendly</a:t>
                      </a:r>
                    </a:p>
                  </a:txBody>
                  <a:tcPr/>
                </a:tc>
                <a:extLst>
                  <a:ext uri="{0D108BD9-81ED-4DB2-BD59-A6C34878D82A}">
                    <a16:rowId xmlns:a16="http://schemas.microsoft.com/office/drawing/2014/main" val="3291613203"/>
                  </a:ext>
                </a:extLst>
              </a:tr>
              <a:tr h="1164606">
                <a:tc>
                  <a:txBody>
                    <a:bodyPr/>
                    <a:lstStyle/>
                    <a:p>
                      <a:r>
                        <a:rPr lang="en-IN" dirty="0"/>
                        <a:t>Maintenance</a:t>
                      </a:r>
                    </a:p>
                  </a:txBody>
                  <a:tcPr/>
                </a:tc>
                <a:tc>
                  <a:txBody>
                    <a:bodyPr/>
                    <a:lstStyle/>
                    <a:p>
                      <a:r>
                        <a:rPr lang="en-US" dirty="0"/>
                        <a:t>High maintenance cost and effort</a:t>
                      </a:r>
                      <a:endParaRPr lang="en-IN" dirty="0"/>
                    </a:p>
                  </a:txBody>
                  <a:tcPr/>
                </a:tc>
                <a:tc>
                  <a:txBody>
                    <a:bodyPr/>
                    <a:lstStyle/>
                    <a:p>
                      <a:r>
                        <a:rPr lang="en-US" dirty="0"/>
                        <a:t>Low maintenance with predictive maintenance features</a:t>
                      </a:r>
                      <a:endParaRPr lang="en-IN" dirty="0"/>
                    </a:p>
                  </a:txBody>
                  <a:tcPr/>
                </a:tc>
                <a:extLst>
                  <a:ext uri="{0D108BD9-81ED-4DB2-BD59-A6C34878D82A}">
                    <a16:rowId xmlns:a16="http://schemas.microsoft.com/office/drawing/2014/main" val="275001094"/>
                  </a:ext>
                </a:extLst>
              </a:tr>
              <a:tr h="815224">
                <a:tc>
                  <a:txBody>
                    <a:bodyPr/>
                    <a:lstStyle/>
                    <a:p>
                      <a:r>
                        <a:rPr lang="en-IN" dirty="0"/>
                        <a:t>Fault Detection</a:t>
                      </a:r>
                    </a:p>
                  </a:txBody>
                  <a:tcPr/>
                </a:tc>
                <a:tc>
                  <a:txBody>
                    <a:bodyPr/>
                    <a:lstStyle/>
                    <a:p>
                      <a:r>
                        <a:rPr lang="en-IN" dirty="0"/>
                        <a:t>Manual fault identification</a:t>
                      </a:r>
                    </a:p>
                  </a:txBody>
                  <a:tcPr/>
                </a:tc>
                <a:tc>
                  <a:txBody>
                    <a:bodyPr/>
                    <a:lstStyle/>
                    <a:p>
                      <a:r>
                        <a:rPr lang="en-US" dirty="0"/>
                        <a:t>Automatic fault detection and self-diagnosis</a:t>
                      </a:r>
                      <a:endParaRPr lang="en-IN" dirty="0"/>
                    </a:p>
                  </a:txBody>
                  <a:tcPr/>
                </a:tc>
                <a:extLst>
                  <a:ext uri="{0D108BD9-81ED-4DB2-BD59-A6C34878D82A}">
                    <a16:rowId xmlns:a16="http://schemas.microsoft.com/office/drawing/2014/main" val="512421932"/>
                  </a:ext>
                </a:extLst>
              </a:tr>
            </a:tbl>
          </a:graphicData>
        </a:graphic>
      </p:graphicFrame>
    </p:spTree>
    <p:extLst>
      <p:ext uri="{BB962C8B-B14F-4D97-AF65-F5344CB8AC3E}">
        <p14:creationId xmlns:p14="http://schemas.microsoft.com/office/powerpoint/2010/main" val="2395342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152C66-8501-4C3F-A8F1-57AF31084BAE}"/>
              </a:ext>
            </a:extLst>
          </p:cNvPr>
          <p:cNvSpPr>
            <a:spLocks noGrp="1"/>
          </p:cNvSpPr>
          <p:nvPr>
            <p:ph type="sldNum" sz="quarter" idx="12"/>
          </p:nvPr>
        </p:nvSpPr>
        <p:spPr/>
        <p:txBody>
          <a:bodyPr/>
          <a:lstStyle/>
          <a:p>
            <a:fld id="{C263D6C4-4840-40CC-AC84-17E24B3B7BDE}" type="slidenum">
              <a:rPr lang="en-US" noProof="0" smtClean="0"/>
              <a:pPr/>
              <a:t>19</a:t>
            </a:fld>
            <a:endParaRPr lang="en-US" noProof="0" dirty="0"/>
          </a:p>
        </p:txBody>
      </p:sp>
      <p:sp>
        <p:nvSpPr>
          <p:cNvPr id="5" name="TextBox 4">
            <a:extLst>
              <a:ext uri="{FF2B5EF4-FFF2-40B4-BE49-F238E27FC236}">
                <a16:creationId xmlns:a16="http://schemas.microsoft.com/office/drawing/2014/main" id="{07A224D3-ED21-49DF-91A4-0A99E13E4A10}"/>
              </a:ext>
            </a:extLst>
          </p:cNvPr>
          <p:cNvSpPr txBox="1"/>
          <p:nvPr/>
        </p:nvSpPr>
        <p:spPr>
          <a:xfrm>
            <a:off x="1159497" y="499621"/>
            <a:ext cx="5542961" cy="461665"/>
          </a:xfrm>
          <a:prstGeom prst="rect">
            <a:avLst/>
          </a:prstGeom>
          <a:noFill/>
        </p:spPr>
        <p:txBody>
          <a:bodyPr wrap="square" rtlCol="0">
            <a:spAutoFit/>
          </a:bodyPr>
          <a:lstStyle/>
          <a:p>
            <a:r>
              <a:rPr lang="en-US" sz="2400" b="1" dirty="0">
                <a:solidFill>
                  <a:schemeClr val="bg1"/>
                </a:solidFill>
              </a:rPr>
              <a:t>LIMITATIONS AND FUTURE SCOPE</a:t>
            </a:r>
          </a:p>
        </p:txBody>
      </p:sp>
      <p:sp>
        <p:nvSpPr>
          <p:cNvPr id="10" name="TextBox 9">
            <a:extLst>
              <a:ext uri="{FF2B5EF4-FFF2-40B4-BE49-F238E27FC236}">
                <a16:creationId xmlns:a16="http://schemas.microsoft.com/office/drawing/2014/main" id="{89A4069F-BE91-49E8-857B-2771227ADAE0}"/>
              </a:ext>
            </a:extLst>
          </p:cNvPr>
          <p:cNvSpPr txBox="1"/>
          <p:nvPr/>
        </p:nvSpPr>
        <p:spPr>
          <a:xfrm>
            <a:off x="933255" y="1093509"/>
            <a:ext cx="8898903" cy="3607398"/>
          </a:xfrm>
          <a:prstGeom prst="rect">
            <a:avLst/>
          </a:prstGeom>
          <a:noFill/>
        </p:spPr>
        <p:txBody>
          <a:bodyPr wrap="square" rtlCol="0">
            <a:spAutoFit/>
          </a:bodyPr>
          <a:lstStyle/>
          <a:p>
            <a:endParaRPr lang="en-US" b="1" dirty="0"/>
          </a:p>
          <a:p>
            <a:pPr marL="285750" indent="-285750">
              <a:lnSpc>
                <a:spcPct val="200000"/>
              </a:lnSpc>
              <a:buClr>
                <a:schemeClr val="bg1"/>
              </a:buClr>
              <a:buFont typeface="Arial" panose="020B0604020202020204" pitchFamily="34" charset="0"/>
              <a:buChar char="•"/>
            </a:pPr>
            <a:r>
              <a:rPr lang="en-US" dirty="0">
                <a:solidFill>
                  <a:schemeClr val="bg1"/>
                </a:solidFill>
              </a:rPr>
              <a:t>Design accuracy depends on the </a:t>
            </a:r>
            <a:r>
              <a:rPr lang="en-US" b="1" dirty="0">
                <a:solidFill>
                  <a:schemeClr val="bg1"/>
                </a:solidFill>
              </a:rPr>
              <a:t>quality of input images and user data</a:t>
            </a:r>
          </a:p>
          <a:p>
            <a:pPr marL="285750" indent="-285750">
              <a:lnSpc>
                <a:spcPct val="200000"/>
              </a:lnSpc>
              <a:buClr>
                <a:schemeClr val="bg1"/>
              </a:buClr>
              <a:buFont typeface="Arial" panose="020B0604020202020204" pitchFamily="34" charset="0"/>
              <a:buChar char="•"/>
            </a:pPr>
            <a:r>
              <a:rPr lang="en-US" dirty="0">
                <a:solidFill>
                  <a:schemeClr val="bg1"/>
                </a:solidFill>
              </a:rPr>
              <a:t>AI-generated designs may </a:t>
            </a:r>
            <a:r>
              <a:rPr lang="en-US" b="1" dirty="0">
                <a:solidFill>
                  <a:schemeClr val="bg1"/>
                </a:solidFill>
              </a:rPr>
              <a:t>not fully match real-world constraints</a:t>
            </a:r>
            <a:r>
              <a:rPr lang="en-US" dirty="0">
                <a:solidFill>
                  <a:schemeClr val="bg1"/>
                </a:solidFill>
              </a:rPr>
              <a:t> like budget or materials</a:t>
            </a:r>
          </a:p>
          <a:p>
            <a:pPr marL="285750" indent="-285750">
              <a:lnSpc>
                <a:spcPct val="200000"/>
              </a:lnSpc>
              <a:buClr>
                <a:schemeClr val="bg1"/>
              </a:buClr>
              <a:buFont typeface="Arial" panose="020B0604020202020204" pitchFamily="34" charset="0"/>
              <a:buChar char="•"/>
            </a:pPr>
            <a:r>
              <a:rPr lang="en-US" dirty="0">
                <a:solidFill>
                  <a:schemeClr val="bg1"/>
                </a:solidFill>
              </a:rPr>
              <a:t>Limited </a:t>
            </a:r>
            <a:r>
              <a:rPr lang="en-US" b="1" dirty="0">
                <a:solidFill>
                  <a:schemeClr val="bg1"/>
                </a:solidFill>
              </a:rPr>
              <a:t>customization for highly complex or irregular room structures</a:t>
            </a:r>
            <a:r>
              <a:rPr lang="en-US" dirty="0">
                <a:solidFill>
                  <a:schemeClr val="bg1"/>
                </a:solidFill>
              </a:rPr>
              <a:t>.</a:t>
            </a:r>
          </a:p>
          <a:p>
            <a:pPr marL="285750" indent="-285750">
              <a:lnSpc>
                <a:spcPct val="200000"/>
              </a:lnSpc>
              <a:buClr>
                <a:schemeClr val="bg1"/>
              </a:buClr>
              <a:buFont typeface="Arial" panose="020B0604020202020204" pitchFamily="34" charset="0"/>
              <a:buChar char="•"/>
            </a:pPr>
            <a:r>
              <a:rPr lang="en-US" dirty="0">
                <a:solidFill>
                  <a:schemeClr val="bg1"/>
                </a:solidFill>
              </a:rPr>
              <a:t>Requires </a:t>
            </a:r>
            <a:r>
              <a:rPr lang="en-US" b="1" dirty="0">
                <a:solidFill>
                  <a:schemeClr val="bg1"/>
                </a:solidFill>
              </a:rPr>
              <a:t>high computational resources</a:t>
            </a:r>
            <a:r>
              <a:rPr lang="en-US" dirty="0">
                <a:solidFill>
                  <a:schemeClr val="bg1"/>
                </a:solidFill>
              </a:rPr>
              <a:t> for faster image generation.</a:t>
            </a:r>
          </a:p>
          <a:p>
            <a:pPr marL="285750" indent="-285750">
              <a:lnSpc>
                <a:spcPct val="200000"/>
              </a:lnSpc>
              <a:buClr>
                <a:schemeClr val="bg1"/>
              </a:buClr>
              <a:buFont typeface="Arial" panose="020B0604020202020204" pitchFamily="34" charset="0"/>
              <a:buChar char="•"/>
            </a:pPr>
            <a:r>
              <a:rPr lang="en-US" dirty="0">
                <a:solidFill>
                  <a:schemeClr val="bg1"/>
                </a:solidFill>
              </a:rPr>
              <a:t>Requires </a:t>
            </a:r>
            <a:r>
              <a:rPr lang="en-US" b="1" dirty="0">
                <a:solidFill>
                  <a:schemeClr val="bg1"/>
                </a:solidFill>
              </a:rPr>
              <a:t>high computational resources</a:t>
            </a:r>
            <a:r>
              <a:rPr lang="en-US" dirty="0">
                <a:solidFill>
                  <a:schemeClr val="bg1"/>
                </a:solidFill>
              </a:rPr>
              <a:t> for faster image generation.</a:t>
            </a:r>
          </a:p>
        </p:txBody>
      </p:sp>
    </p:spTree>
    <p:extLst>
      <p:ext uri="{BB962C8B-B14F-4D97-AF65-F5344CB8AC3E}">
        <p14:creationId xmlns:p14="http://schemas.microsoft.com/office/powerpoint/2010/main" val="2981236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98C2BD-E6C3-47BB-840A-1507A77EE9CA}"/>
              </a:ext>
            </a:extLst>
          </p:cNvPr>
          <p:cNvSpPr>
            <a:spLocks noGrp="1"/>
          </p:cNvSpPr>
          <p:nvPr>
            <p:ph type="sldNum" sz="quarter" idx="12"/>
          </p:nvPr>
        </p:nvSpPr>
        <p:spPr/>
        <p:txBody>
          <a:bodyPr/>
          <a:lstStyle/>
          <a:p>
            <a:fld id="{C263D6C4-4840-40CC-AC84-17E24B3B7BDE}" type="slidenum">
              <a:rPr lang="en-US" noProof="0" smtClean="0"/>
              <a:pPr/>
              <a:t>20</a:t>
            </a:fld>
            <a:endParaRPr lang="en-US" noProof="0" dirty="0"/>
          </a:p>
        </p:txBody>
      </p:sp>
      <p:sp>
        <p:nvSpPr>
          <p:cNvPr id="3" name="TextBox 2">
            <a:extLst>
              <a:ext uri="{FF2B5EF4-FFF2-40B4-BE49-F238E27FC236}">
                <a16:creationId xmlns:a16="http://schemas.microsoft.com/office/drawing/2014/main" id="{B17C6591-7A21-4D10-A367-042784CBCA66}"/>
              </a:ext>
            </a:extLst>
          </p:cNvPr>
          <p:cNvSpPr txBox="1"/>
          <p:nvPr/>
        </p:nvSpPr>
        <p:spPr>
          <a:xfrm>
            <a:off x="1338606" y="923827"/>
            <a:ext cx="8804635" cy="2776401"/>
          </a:xfrm>
          <a:prstGeom prst="rect">
            <a:avLst/>
          </a:prstGeom>
          <a:noFill/>
        </p:spPr>
        <p:txBody>
          <a:bodyPr wrap="square" rtlCol="0">
            <a:spAutoFit/>
          </a:bodyPr>
          <a:lstStyle/>
          <a:p>
            <a:pPr marL="285750" indent="-285750">
              <a:lnSpc>
                <a:spcPct val="200000"/>
              </a:lnSpc>
              <a:buClr>
                <a:schemeClr val="bg1"/>
              </a:buClr>
              <a:buFont typeface="Arial" panose="020B0604020202020204" pitchFamily="34" charset="0"/>
              <a:buChar char="•"/>
            </a:pPr>
            <a:r>
              <a:rPr lang="en-US" dirty="0">
                <a:solidFill>
                  <a:schemeClr val="bg1"/>
                </a:solidFill>
              </a:rPr>
              <a:t>Integration of </a:t>
            </a:r>
            <a:r>
              <a:rPr lang="en-US" b="1" dirty="0">
                <a:solidFill>
                  <a:schemeClr val="bg1"/>
                </a:solidFill>
              </a:rPr>
              <a:t>real-time 3D visualization and AR/VR support</a:t>
            </a:r>
            <a:r>
              <a:rPr lang="en-US" dirty="0">
                <a:solidFill>
                  <a:schemeClr val="bg1"/>
                </a:solidFill>
              </a:rPr>
              <a:t>.</a:t>
            </a:r>
          </a:p>
          <a:p>
            <a:pPr marL="285750" indent="-285750">
              <a:lnSpc>
                <a:spcPct val="200000"/>
              </a:lnSpc>
              <a:buClr>
                <a:schemeClr val="bg1"/>
              </a:buClr>
              <a:buFont typeface="Arial" panose="020B0604020202020204" pitchFamily="34" charset="0"/>
              <a:buChar char="•"/>
            </a:pPr>
            <a:r>
              <a:rPr lang="en-US" dirty="0">
                <a:solidFill>
                  <a:schemeClr val="bg1"/>
                </a:solidFill>
              </a:rPr>
              <a:t>Inclusion of </a:t>
            </a:r>
            <a:r>
              <a:rPr lang="en-US" b="1" dirty="0">
                <a:solidFill>
                  <a:schemeClr val="bg1"/>
                </a:solidFill>
              </a:rPr>
              <a:t>cost estimation and material availability</a:t>
            </a:r>
            <a:r>
              <a:rPr lang="en-US" dirty="0">
                <a:solidFill>
                  <a:schemeClr val="bg1"/>
                </a:solidFill>
              </a:rPr>
              <a:t> features</a:t>
            </a:r>
          </a:p>
          <a:p>
            <a:pPr marL="285750" indent="-285750">
              <a:lnSpc>
                <a:spcPct val="200000"/>
              </a:lnSpc>
              <a:buClr>
                <a:schemeClr val="bg1"/>
              </a:buClr>
              <a:buFont typeface="Arial" panose="020B0604020202020204" pitchFamily="34" charset="0"/>
              <a:buChar char="•"/>
            </a:pPr>
            <a:r>
              <a:rPr lang="en-US" dirty="0">
                <a:solidFill>
                  <a:schemeClr val="bg1"/>
                </a:solidFill>
              </a:rPr>
              <a:t>Improved personalization using </a:t>
            </a:r>
            <a:r>
              <a:rPr lang="en-US" b="1" dirty="0">
                <a:solidFill>
                  <a:schemeClr val="bg1"/>
                </a:solidFill>
              </a:rPr>
              <a:t>user feedback and adaptive learning</a:t>
            </a:r>
            <a:r>
              <a:rPr lang="en-US" dirty="0">
                <a:solidFill>
                  <a:schemeClr val="bg1"/>
                </a:solidFill>
              </a:rPr>
              <a:t>.</a:t>
            </a:r>
          </a:p>
          <a:p>
            <a:pPr marL="285750" indent="-285750">
              <a:lnSpc>
                <a:spcPct val="200000"/>
              </a:lnSpc>
              <a:buClr>
                <a:schemeClr val="bg1"/>
              </a:buClr>
              <a:buFont typeface="Arial" panose="020B0604020202020204" pitchFamily="34" charset="0"/>
              <a:buChar char="•"/>
            </a:pPr>
            <a:r>
              <a:rPr lang="en-US" dirty="0">
                <a:solidFill>
                  <a:schemeClr val="bg1"/>
                </a:solidFill>
              </a:rPr>
              <a:t>Support for </a:t>
            </a:r>
            <a:r>
              <a:rPr lang="en-US" b="1" dirty="0">
                <a:solidFill>
                  <a:schemeClr val="bg1"/>
                </a:solidFill>
              </a:rPr>
              <a:t>more design styles and regional interior preferences</a:t>
            </a:r>
            <a:r>
              <a:rPr lang="en-US" dirty="0">
                <a:solidFill>
                  <a:schemeClr val="bg1"/>
                </a:solidFill>
              </a:rPr>
              <a:t>.</a:t>
            </a:r>
          </a:p>
          <a:p>
            <a:pPr marL="285750" indent="-285750">
              <a:lnSpc>
                <a:spcPct val="200000"/>
              </a:lnSpc>
              <a:buClr>
                <a:schemeClr val="bg1"/>
              </a:buClr>
              <a:buFont typeface="Arial" panose="020B0604020202020204" pitchFamily="34" charset="0"/>
              <a:buChar char="•"/>
            </a:pPr>
            <a:r>
              <a:rPr lang="en-US" dirty="0">
                <a:solidFill>
                  <a:schemeClr val="bg1"/>
                </a:solidFill>
              </a:rPr>
              <a:t>Deployment as a </a:t>
            </a:r>
            <a:r>
              <a:rPr lang="en-US" b="1" dirty="0">
                <a:solidFill>
                  <a:schemeClr val="bg1"/>
                </a:solidFill>
              </a:rPr>
              <a:t>mobile and cloud-based application</a:t>
            </a:r>
            <a:r>
              <a:rPr lang="en-US" dirty="0">
                <a:solidFill>
                  <a:schemeClr val="bg1"/>
                </a:solidFill>
              </a:rPr>
              <a:t> for wider accessibility</a:t>
            </a:r>
            <a:r>
              <a:rPr lang="en-US" dirty="0"/>
              <a:t>.</a:t>
            </a:r>
          </a:p>
        </p:txBody>
      </p:sp>
    </p:spTree>
    <p:extLst>
      <p:ext uri="{BB962C8B-B14F-4D97-AF65-F5344CB8AC3E}">
        <p14:creationId xmlns:p14="http://schemas.microsoft.com/office/powerpoint/2010/main" val="3692107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075788-905A-43EB-8345-21D3238749B3}"/>
              </a:ext>
            </a:extLst>
          </p:cNvPr>
          <p:cNvSpPr>
            <a:spLocks noGrp="1"/>
          </p:cNvSpPr>
          <p:nvPr>
            <p:ph type="sldNum" sz="quarter" idx="12"/>
          </p:nvPr>
        </p:nvSpPr>
        <p:spPr/>
        <p:txBody>
          <a:bodyPr/>
          <a:lstStyle/>
          <a:p>
            <a:fld id="{C263D6C4-4840-40CC-AC84-17E24B3B7BDE}" type="slidenum">
              <a:rPr lang="en-US" noProof="0" smtClean="0"/>
              <a:pPr/>
              <a:t>21</a:t>
            </a:fld>
            <a:endParaRPr lang="en-US" noProof="0" dirty="0"/>
          </a:p>
        </p:txBody>
      </p:sp>
      <p:sp>
        <p:nvSpPr>
          <p:cNvPr id="3" name="TextBox 2">
            <a:extLst>
              <a:ext uri="{FF2B5EF4-FFF2-40B4-BE49-F238E27FC236}">
                <a16:creationId xmlns:a16="http://schemas.microsoft.com/office/drawing/2014/main" id="{85051E37-2579-4E15-879D-C17466AA136C}"/>
              </a:ext>
            </a:extLst>
          </p:cNvPr>
          <p:cNvSpPr txBox="1"/>
          <p:nvPr/>
        </p:nvSpPr>
        <p:spPr>
          <a:xfrm>
            <a:off x="904974" y="301657"/>
            <a:ext cx="5646656" cy="584775"/>
          </a:xfrm>
          <a:prstGeom prst="rect">
            <a:avLst/>
          </a:prstGeom>
          <a:noFill/>
        </p:spPr>
        <p:txBody>
          <a:bodyPr wrap="square" rtlCol="0">
            <a:spAutoFit/>
          </a:bodyPr>
          <a:lstStyle/>
          <a:p>
            <a:r>
              <a:rPr lang="en-US" sz="3200" b="1" dirty="0">
                <a:solidFill>
                  <a:schemeClr val="bg1"/>
                </a:solidFill>
              </a:rPr>
              <a:t>REFERENCES</a:t>
            </a:r>
          </a:p>
        </p:txBody>
      </p:sp>
      <p:sp>
        <p:nvSpPr>
          <p:cNvPr id="4" name="TextBox 3">
            <a:extLst>
              <a:ext uri="{FF2B5EF4-FFF2-40B4-BE49-F238E27FC236}">
                <a16:creationId xmlns:a16="http://schemas.microsoft.com/office/drawing/2014/main" id="{15302591-F520-41CC-9684-3F1B2D1A3588}"/>
              </a:ext>
            </a:extLst>
          </p:cNvPr>
          <p:cNvSpPr txBox="1"/>
          <p:nvPr/>
        </p:nvSpPr>
        <p:spPr>
          <a:xfrm>
            <a:off x="623349" y="632391"/>
            <a:ext cx="11568651" cy="6878806"/>
          </a:xfrm>
          <a:prstGeom prst="rect">
            <a:avLst/>
          </a:prstGeom>
          <a:noFill/>
        </p:spPr>
        <p:txBody>
          <a:bodyPr wrap="square" rtlCol="0">
            <a:spAutoFit/>
          </a:bodyPr>
          <a:lstStyle/>
          <a:p>
            <a:endParaRPr lang="en-US" b="1" dirty="0"/>
          </a:p>
          <a:p>
            <a:pPr marL="285750" indent="-285750">
              <a:lnSpc>
                <a:spcPct val="150000"/>
              </a:lnSpc>
              <a:buFont typeface="Arial" panose="020B0604020202020204" pitchFamily="34" charset="0"/>
              <a:buChar char="•"/>
            </a:pPr>
            <a:r>
              <a:rPr lang="en-US" dirty="0">
                <a:solidFill>
                  <a:schemeClr val="bg1"/>
                </a:solidFill>
              </a:rPr>
              <a:t>[1] I. Goodfellow, Y. </a:t>
            </a:r>
            <a:r>
              <a:rPr lang="en-US" dirty="0" err="1">
                <a:solidFill>
                  <a:schemeClr val="bg1"/>
                </a:solidFill>
              </a:rPr>
              <a:t>Bengio</a:t>
            </a:r>
            <a:r>
              <a:rPr lang="en-US" dirty="0">
                <a:solidFill>
                  <a:schemeClr val="bg1"/>
                </a:solidFill>
              </a:rPr>
              <a:t>, and A. Courville, </a:t>
            </a:r>
            <a:r>
              <a:rPr lang="en-US" i="1" dirty="0">
                <a:solidFill>
                  <a:schemeClr val="bg1"/>
                </a:solidFill>
              </a:rPr>
              <a:t>Deep Learning</a:t>
            </a:r>
            <a:r>
              <a:rPr lang="en-US" dirty="0">
                <a:solidFill>
                  <a:schemeClr val="bg1"/>
                </a:solidFill>
              </a:rPr>
              <a:t>. Cambridge, MA, USA: MIT Press, 2016.</a:t>
            </a:r>
          </a:p>
          <a:p>
            <a:pPr>
              <a:lnSpc>
                <a:spcPct val="150000"/>
              </a:lnSpc>
            </a:pPr>
            <a:endParaRPr lang="en-US" dirty="0">
              <a:solidFill>
                <a:schemeClr val="bg1"/>
              </a:solidFill>
            </a:endParaRPr>
          </a:p>
          <a:p>
            <a:pPr marL="285750" indent="-285750">
              <a:lnSpc>
                <a:spcPct val="150000"/>
              </a:lnSpc>
              <a:buFont typeface="Arial" panose="020B0604020202020204" pitchFamily="34" charset="0"/>
              <a:buChar char="•"/>
            </a:pPr>
            <a:r>
              <a:rPr lang="en-US" dirty="0">
                <a:solidFill>
                  <a:schemeClr val="bg1"/>
                </a:solidFill>
              </a:rPr>
              <a:t>[2] R. </a:t>
            </a:r>
            <a:r>
              <a:rPr lang="en-US" dirty="0" err="1">
                <a:solidFill>
                  <a:schemeClr val="bg1"/>
                </a:solidFill>
              </a:rPr>
              <a:t>Rombach</a:t>
            </a:r>
            <a:r>
              <a:rPr lang="en-US" dirty="0">
                <a:solidFill>
                  <a:schemeClr val="bg1"/>
                </a:solidFill>
              </a:rPr>
              <a:t>, A. </a:t>
            </a:r>
            <a:r>
              <a:rPr lang="en-US" dirty="0" err="1">
                <a:solidFill>
                  <a:schemeClr val="bg1"/>
                </a:solidFill>
              </a:rPr>
              <a:t>Blattmann</a:t>
            </a:r>
            <a:r>
              <a:rPr lang="en-US" dirty="0">
                <a:solidFill>
                  <a:schemeClr val="bg1"/>
                </a:solidFill>
              </a:rPr>
              <a:t>, D. Lorenz, P. </a:t>
            </a:r>
            <a:r>
              <a:rPr lang="en-US" dirty="0" err="1">
                <a:solidFill>
                  <a:schemeClr val="bg1"/>
                </a:solidFill>
              </a:rPr>
              <a:t>Esser</a:t>
            </a:r>
            <a:r>
              <a:rPr lang="en-US" dirty="0">
                <a:solidFill>
                  <a:schemeClr val="bg1"/>
                </a:solidFill>
              </a:rPr>
              <a:t>, and B. </a:t>
            </a:r>
            <a:r>
              <a:rPr lang="en-US" dirty="0" err="1">
                <a:solidFill>
                  <a:schemeClr val="bg1"/>
                </a:solidFill>
              </a:rPr>
              <a:t>Ommer</a:t>
            </a:r>
            <a:r>
              <a:rPr lang="en-US" dirty="0">
                <a:solidFill>
                  <a:schemeClr val="bg1"/>
                </a:solidFill>
              </a:rPr>
              <a:t>, “High-resolution image synthesis with latent diffusion models,” in </a:t>
            </a:r>
            <a:r>
              <a:rPr lang="en-US" i="1" dirty="0">
                <a:solidFill>
                  <a:schemeClr val="bg1"/>
                </a:solidFill>
              </a:rPr>
              <a:t>Proc. IEEE Conf. Computer Vision and Pattern Recognition (CVPR)</a:t>
            </a:r>
            <a:r>
              <a:rPr lang="en-US" dirty="0">
                <a:solidFill>
                  <a:schemeClr val="bg1"/>
                </a:solidFill>
              </a:rPr>
              <a:t>, 2022, pp. 10684–10695.</a:t>
            </a:r>
          </a:p>
          <a:p>
            <a:pPr>
              <a:lnSpc>
                <a:spcPct val="150000"/>
              </a:lnSpc>
            </a:pPr>
            <a:endParaRPr lang="en-US" dirty="0">
              <a:solidFill>
                <a:schemeClr val="bg1"/>
              </a:solidFill>
            </a:endParaRPr>
          </a:p>
          <a:p>
            <a:pPr marL="285750" indent="-285750">
              <a:lnSpc>
                <a:spcPct val="150000"/>
              </a:lnSpc>
              <a:buFont typeface="Arial" panose="020B0604020202020204" pitchFamily="34" charset="0"/>
              <a:buChar char="•"/>
            </a:pPr>
            <a:r>
              <a:rPr lang="en-US" dirty="0">
                <a:solidFill>
                  <a:schemeClr val="bg1"/>
                </a:solidFill>
              </a:rPr>
              <a:t>[3] A. Radford, L. Metz, and S. </a:t>
            </a:r>
            <a:r>
              <a:rPr lang="en-US" dirty="0" err="1">
                <a:solidFill>
                  <a:schemeClr val="bg1"/>
                </a:solidFill>
              </a:rPr>
              <a:t>Chintala</a:t>
            </a:r>
            <a:r>
              <a:rPr lang="en-US" dirty="0">
                <a:solidFill>
                  <a:schemeClr val="bg1"/>
                </a:solidFill>
              </a:rPr>
              <a:t>, “Unsupervised representation learning with deep convolutional generative adversarial networks,” in </a:t>
            </a:r>
            <a:r>
              <a:rPr lang="en-US" i="1" dirty="0">
                <a:solidFill>
                  <a:schemeClr val="bg1"/>
                </a:solidFill>
              </a:rPr>
              <a:t>Proc. Int. Conf. Learning Representations (ICLR)</a:t>
            </a:r>
            <a:r>
              <a:rPr lang="en-US" dirty="0">
                <a:solidFill>
                  <a:schemeClr val="bg1"/>
                </a:solidFill>
              </a:rPr>
              <a:t>, 2016.</a:t>
            </a:r>
          </a:p>
          <a:p>
            <a:pPr marL="285750" indent="-285750">
              <a:lnSpc>
                <a:spcPct val="150000"/>
              </a:lnSpc>
              <a:buFont typeface="Arial" panose="020B0604020202020204" pitchFamily="34" charset="0"/>
              <a:buChar char="•"/>
            </a:pPr>
            <a:endParaRPr lang="en-US" dirty="0">
              <a:solidFill>
                <a:schemeClr val="bg1"/>
              </a:solidFill>
            </a:endParaRPr>
          </a:p>
          <a:p>
            <a:pPr marL="285750" indent="-285750">
              <a:lnSpc>
                <a:spcPct val="150000"/>
              </a:lnSpc>
              <a:buFont typeface="Arial" panose="020B0604020202020204" pitchFamily="34" charset="0"/>
              <a:buChar char="•"/>
            </a:pPr>
            <a:r>
              <a:rPr lang="en-US" dirty="0">
                <a:solidFill>
                  <a:schemeClr val="bg1"/>
                </a:solidFill>
              </a:rPr>
              <a:t>[4] D. P. </a:t>
            </a:r>
            <a:r>
              <a:rPr lang="en-US" dirty="0" err="1">
                <a:solidFill>
                  <a:schemeClr val="bg1"/>
                </a:solidFill>
              </a:rPr>
              <a:t>Kingma</a:t>
            </a:r>
            <a:r>
              <a:rPr lang="en-US" dirty="0">
                <a:solidFill>
                  <a:schemeClr val="bg1"/>
                </a:solidFill>
              </a:rPr>
              <a:t> and M. Welling, “Auto-encoding variational Bayes,” in </a:t>
            </a:r>
            <a:r>
              <a:rPr lang="en-US" i="1" dirty="0">
                <a:solidFill>
                  <a:schemeClr val="bg1"/>
                </a:solidFill>
              </a:rPr>
              <a:t>Proc. Int. Conf. Learning Representations (ICLR)</a:t>
            </a:r>
            <a:r>
              <a:rPr lang="en-US" dirty="0">
                <a:solidFill>
                  <a:schemeClr val="bg1"/>
                </a:solidFill>
              </a:rPr>
              <a:t>, 2014.</a:t>
            </a:r>
          </a:p>
          <a:p>
            <a:pPr marL="285750" indent="-285750">
              <a:lnSpc>
                <a:spcPct val="150000"/>
              </a:lnSpc>
              <a:buFont typeface="Arial" panose="020B0604020202020204" pitchFamily="34" charset="0"/>
              <a:buChar char="•"/>
            </a:pPr>
            <a:endParaRPr lang="en-US" dirty="0">
              <a:solidFill>
                <a:schemeClr val="bg1"/>
              </a:solidFill>
            </a:endParaRPr>
          </a:p>
          <a:p>
            <a:pPr marL="285750" indent="-285750">
              <a:lnSpc>
                <a:spcPct val="150000"/>
              </a:lnSpc>
              <a:buFont typeface="Arial" panose="020B0604020202020204" pitchFamily="34" charset="0"/>
              <a:buChar char="•"/>
            </a:pPr>
            <a:r>
              <a:rPr lang="en-US" dirty="0">
                <a:solidFill>
                  <a:schemeClr val="bg1"/>
                </a:solidFill>
              </a:rPr>
              <a:t>[5] O. </a:t>
            </a:r>
            <a:r>
              <a:rPr lang="en-US" dirty="0" err="1">
                <a:solidFill>
                  <a:schemeClr val="bg1"/>
                </a:solidFill>
              </a:rPr>
              <a:t>Ronneberger</a:t>
            </a:r>
            <a:r>
              <a:rPr lang="en-US" dirty="0">
                <a:solidFill>
                  <a:schemeClr val="bg1"/>
                </a:solidFill>
              </a:rPr>
              <a:t>, P. Fischer, and T. </a:t>
            </a:r>
            <a:r>
              <a:rPr lang="en-US" dirty="0" err="1">
                <a:solidFill>
                  <a:schemeClr val="bg1"/>
                </a:solidFill>
              </a:rPr>
              <a:t>Brox</a:t>
            </a:r>
            <a:r>
              <a:rPr lang="en-US" dirty="0">
                <a:solidFill>
                  <a:schemeClr val="bg1"/>
                </a:solidFill>
              </a:rPr>
              <a:t>, “U-Net: Convolutional networks for biomedical image segmentation,” in </a:t>
            </a:r>
            <a:r>
              <a:rPr lang="en-US" i="1" dirty="0">
                <a:solidFill>
                  <a:schemeClr val="bg1"/>
                </a:solidFill>
              </a:rPr>
              <a:t>Proc. Int. Conf. Medical Image Computing and Computer-Assisted Intervention</a:t>
            </a:r>
            <a:r>
              <a:rPr lang="en-US" dirty="0">
                <a:solidFill>
                  <a:schemeClr val="bg1"/>
                </a:solidFill>
              </a:rPr>
              <a:t>, 2015, pp. 234–241.</a:t>
            </a:r>
          </a:p>
          <a:p>
            <a:pPr>
              <a:buClr>
                <a:schemeClr val="bg1"/>
              </a:buClr>
            </a:pPr>
            <a:endParaRPr lang="en-US" dirty="0"/>
          </a:p>
        </p:txBody>
      </p:sp>
    </p:spTree>
    <p:extLst>
      <p:ext uri="{BB962C8B-B14F-4D97-AF65-F5344CB8AC3E}">
        <p14:creationId xmlns:p14="http://schemas.microsoft.com/office/powerpoint/2010/main" val="24732195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EFECEF-9B3B-4E25-AF30-85936DD982AE}"/>
              </a:ext>
            </a:extLst>
          </p:cNvPr>
          <p:cNvSpPr>
            <a:spLocks noGrp="1"/>
          </p:cNvSpPr>
          <p:nvPr>
            <p:ph type="sldNum" sz="quarter" idx="12"/>
          </p:nvPr>
        </p:nvSpPr>
        <p:spPr/>
        <p:txBody>
          <a:bodyPr/>
          <a:lstStyle/>
          <a:p>
            <a:fld id="{C263D6C4-4840-40CC-AC84-17E24B3B7BDE}" type="slidenum">
              <a:rPr lang="en-US" noProof="0" smtClean="0"/>
              <a:pPr/>
              <a:t>22</a:t>
            </a:fld>
            <a:endParaRPr lang="en-US" noProof="0" dirty="0"/>
          </a:p>
        </p:txBody>
      </p:sp>
      <p:sp>
        <p:nvSpPr>
          <p:cNvPr id="3" name="TextBox 2">
            <a:extLst>
              <a:ext uri="{FF2B5EF4-FFF2-40B4-BE49-F238E27FC236}">
                <a16:creationId xmlns:a16="http://schemas.microsoft.com/office/drawing/2014/main" id="{911437BE-A609-4D43-862E-89E280476B0B}"/>
              </a:ext>
            </a:extLst>
          </p:cNvPr>
          <p:cNvSpPr txBox="1"/>
          <p:nvPr/>
        </p:nvSpPr>
        <p:spPr>
          <a:xfrm>
            <a:off x="820132" y="565608"/>
            <a:ext cx="10838468" cy="6463308"/>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solidFill>
                  <a:schemeClr val="bg1"/>
                </a:solidFill>
              </a:rPr>
              <a:t>[6] J. Redmon and A. Farhadi, “YOLOv3: An incremental improvement,” </a:t>
            </a:r>
            <a:r>
              <a:rPr lang="en-US" i="1" dirty="0" err="1">
                <a:solidFill>
                  <a:schemeClr val="bg1"/>
                </a:solidFill>
              </a:rPr>
              <a:t>arXiv</a:t>
            </a:r>
            <a:r>
              <a:rPr lang="en-US" i="1" dirty="0">
                <a:solidFill>
                  <a:schemeClr val="bg1"/>
                </a:solidFill>
              </a:rPr>
              <a:t> preprint arXiv:1804.02767</a:t>
            </a:r>
            <a:r>
              <a:rPr lang="en-US" dirty="0">
                <a:solidFill>
                  <a:schemeClr val="bg1"/>
                </a:solidFill>
              </a:rPr>
              <a:t>, 2018.</a:t>
            </a:r>
          </a:p>
          <a:p>
            <a:pPr marL="285750" indent="-285750">
              <a:lnSpc>
                <a:spcPct val="200000"/>
              </a:lnSpc>
              <a:buFont typeface="Arial" panose="020B0604020202020204" pitchFamily="34" charset="0"/>
              <a:buChar char="•"/>
            </a:pPr>
            <a:r>
              <a:rPr lang="en-US" dirty="0">
                <a:solidFill>
                  <a:schemeClr val="bg1"/>
                </a:solidFill>
              </a:rPr>
              <a:t>[7] K. He, X. Zhang, S. Ren, and J. Sun, “Deep residual learning for image recognition,” in </a:t>
            </a:r>
            <a:r>
              <a:rPr lang="en-US" i="1" dirty="0">
                <a:solidFill>
                  <a:schemeClr val="bg1"/>
                </a:solidFill>
              </a:rPr>
              <a:t>Proc. IEEE Conf. Computer Vision and Pattern Recognition (CVPR)</a:t>
            </a:r>
            <a:r>
              <a:rPr lang="en-US" dirty="0">
                <a:solidFill>
                  <a:schemeClr val="bg1"/>
                </a:solidFill>
              </a:rPr>
              <a:t>, 2016, pp. 770–778.</a:t>
            </a:r>
          </a:p>
          <a:p>
            <a:pPr marL="285750" indent="-285750">
              <a:lnSpc>
                <a:spcPct val="200000"/>
              </a:lnSpc>
              <a:buFont typeface="Arial" panose="020B0604020202020204" pitchFamily="34" charset="0"/>
              <a:buChar char="•"/>
            </a:pPr>
            <a:r>
              <a:rPr lang="en-US" dirty="0">
                <a:solidFill>
                  <a:schemeClr val="bg1"/>
                </a:solidFill>
              </a:rPr>
              <a:t>[8] T. </a:t>
            </a:r>
            <a:r>
              <a:rPr lang="en-US" dirty="0" err="1">
                <a:solidFill>
                  <a:schemeClr val="bg1"/>
                </a:solidFill>
              </a:rPr>
              <a:t>Karras</a:t>
            </a:r>
            <a:r>
              <a:rPr lang="en-US" dirty="0">
                <a:solidFill>
                  <a:schemeClr val="bg1"/>
                </a:solidFill>
              </a:rPr>
              <a:t>, S. Laine, and T. </a:t>
            </a:r>
            <a:r>
              <a:rPr lang="en-US" dirty="0" err="1">
                <a:solidFill>
                  <a:schemeClr val="bg1"/>
                </a:solidFill>
              </a:rPr>
              <a:t>Aila</a:t>
            </a:r>
            <a:r>
              <a:rPr lang="en-US" dirty="0">
                <a:solidFill>
                  <a:schemeClr val="bg1"/>
                </a:solidFill>
              </a:rPr>
              <a:t>, “A style-based generator architecture for generative adversarial networks,” in </a:t>
            </a:r>
            <a:r>
              <a:rPr lang="en-US" i="1" dirty="0">
                <a:solidFill>
                  <a:schemeClr val="bg1"/>
                </a:solidFill>
              </a:rPr>
              <a:t>Proc. IEEE Conf. Computer Vision and Pattern Recognition (CVPR)</a:t>
            </a:r>
            <a:r>
              <a:rPr lang="en-US" dirty="0">
                <a:solidFill>
                  <a:schemeClr val="bg1"/>
                </a:solidFill>
              </a:rPr>
              <a:t>, 2019, pp. 4401–4410.</a:t>
            </a:r>
          </a:p>
          <a:p>
            <a:pPr marL="285750" indent="-285750">
              <a:lnSpc>
                <a:spcPct val="200000"/>
              </a:lnSpc>
              <a:buFont typeface="Arial" panose="020B0604020202020204" pitchFamily="34" charset="0"/>
              <a:buChar char="•"/>
            </a:pPr>
            <a:r>
              <a:rPr lang="en-US" dirty="0">
                <a:solidFill>
                  <a:schemeClr val="bg1"/>
                </a:solidFill>
              </a:rPr>
              <a:t>[9] S. J. Russell and P. </a:t>
            </a:r>
            <a:r>
              <a:rPr lang="en-US" dirty="0" err="1">
                <a:solidFill>
                  <a:schemeClr val="bg1"/>
                </a:solidFill>
              </a:rPr>
              <a:t>Norvig</a:t>
            </a:r>
            <a:r>
              <a:rPr lang="en-US" dirty="0">
                <a:solidFill>
                  <a:schemeClr val="bg1"/>
                </a:solidFill>
              </a:rPr>
              <a:t>, </a:t>
            </a:r>
            <a:r>
              <a:rPr lang="en-US" i="1" dirty="0">
                <a:solidFill>
                  <a:schemeClr val="bg1"/>
                </a:solidFill>
              </a:rPr>
              <a:t>Artificial Intelligence: A Modern Approach</a:t>
            </a:r>
            <a:r>
              <a:rPr lang="en-US" dirty="0">
                <a:solidFill>
                  <a:schemeClr val="bg1"/>
                </a:solidFill>
              </a:rPr>
              <a:t>, 4th ed. Upper Saddle River, NJ, USA: Pearson, 2021.</a:t>
            </a:r>
          </a:p>
          <a:p>
            <a:pPr marL="285750" indent="-285750">
              <a:lnSpc>
                <a:spcPct val="200000"/>
              </a:lnSpc>
              <a:buFont typeface="Arial" panose="020B0604020202020204" pitchFamily="34" charset="0"/>
              <a:buChar char="•"/>
            </a:pPr>
            <a:r>
              <a:rPr lang="en-US" dirty="0">
                <a:solidFill>
                  <a:schemeClr val="bg1"/>
                </a:solidFill>
              </a:rPr>
              <a:t>[10] Y. </a:t>
            </a:r>
            <a:r>
              <a:rPr lang="en-US" dirty="0" err="1">
                <a:solidFill>
                  <a:schemeClr val="bg1"/>
                </a:solidFill>
              </a:rPr>
              <a:t>LeCun</a:t>
            </a:r>
            <a:r>
              <a:rPr lang="en-US" dirty="0">
                <a:solidFill>
                  <a:schemeClr val="bg1"/>
                </a:solidFill>
              </a:rPr>
              <a:t>, Y. </a:t>
            </a:r>
            <a:r>
              <a:rPr lang="en-US" dirty="0" err="1">
                <a:solidFill>
                  <a:schemeClr val="bg1"/>
                </a:solidFill>
              </a:rPr>
              <a:t>Bengio</a:t>
            </a:r>
            <a:r>
              <a:rPr lang="en-US" dirty="0">
                <a:solidFill>
                  <a:schemeClr val="bg1"/>
                </a:solidFill>
              </a:rPr>
              <a:t>, and G. Hinton, “Deep learning,” </a:t>
            </a:r>
            <a:r>
              <a:rPr lang="en-US" i="1" dirty="0">
                <a:solidFill>
                  <a:schemeClr val="bg1"/>
                </a:solidFill>
              </a:rPr>
              <a:t>Nature</a:t>
            </a:r>
            <a:r>
              <a:rPr lang="en-US" dirty="0">
                <a:solidFill>
                  <a:schemeClr val="bg1"/>
                </a:solidFill>
              </a:rPr>
              <a:t>, vol. 521, no. 7553, pp. 436–444, May 2015.</a:t>
            </a:r>
          </a:p>
          <a:p>
            <a:endParaRPr lang="en-US" dirty="0"/>
          </a:p>
        </p:txBody>
      </p:sp>
    </p:spTree>
    <p:extLst>
      <p:ext uri="{BB962C8B-B14F-4D97-AF65-F5344CB8AC3E}">
        <p14:creationId xmlns:p14="http://schemas.microsoft.com/office/powerpoint/2010/main" val="2273930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Thank You </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771863"/>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F5757914-1161-4661-9696-421FD6935CDD}">
  <ds:schemaRefs>
    <ds:schemaRef ds:uri="http://purl.org/dc/terms/"/>
    <ds:schemaRef ds:uri="http://schemas.microsoft.com/office/2006/metadata/properties"/>
    <ds:schemaRef ds:uri="http://purl.org/dc/elements/1.1/"/>
    <ds:schemaRef ds:uri="http://schemas.microsoft.com/office/2006/documentManagement/types"/>
    <ds:schemaRef ds:uri="http://purl.org/dc/dcmitype/"/>
    <ds:schemaRef ds:uri="71af3243-3dd4-4a8d-8c0d-dd76da1f02a5"/>
    <ds:schemaRef ds:uri="http://www.w3.org/XML/1998/namespace"/>
    <ds:schemaRef ds:uri="http://schemas.microsoft.com/office/infopath/2007/PartnerControls"/>
    <ds:schemaRef ds:uri="http://schemas.openxmlformats.org/package/2006/metadata/core-properties"/>
    <ds:schemaRef ds:uri="16c05727-aa75-4e4a-9b5f-8a80a1165891"/>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36</TotalTime>
  <Words>1222</Words>
  <Application>Microsoft Office PowerPoint</Application>
  <PresentationFormat>Widescreen</PresentationFormat>
  <Paragraphs>169</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Times New Roman</vt:lpstr>
      <vt:lpstr>Trade Gothic LT Pro</vt:lpstr>
      <vt:lpstr>Trebuchet MS</vt:lpstr>
      <vt:lpstr>Wingdings</vt:lpstr>
      <vt:lpstr>Office Theme</vt:lpstr>
      <vt:lpstr>SmartSpace</vt:lpstr>
      <vt:lpstr>Introduction</vt:lpstr>
      <vt:lpstr>Abstract</vt:lpstr>
      <vt:lpstr>PowerPoint Presentation</vt:lpstr>
      <vt:lpstr>PowerPoint Presentation</vt:lpstr>
      <vt:lpstr>Proposed System</vt:lpstr>
      <vt:lpstr>Literature Review</vt:lpstr>
      <vt:lpstr>Modules of  Proposed System</vt:lpstr>
      <vt:lpstr>Tools and Technologies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sonu</dc:creator>
  <cp:lastModifiedBy>Sneha Anna Biju</cp:lastModifiedBy>
  <cp:revision>4</cp:revision>
  <dcterms:created xsi:type="dcterms:W3CDTF">2026-01-13T08:11:01Z</dcterms:created>
  <dcterms:modified xsi:type="dcterms:W3CDTF">2026-02-25T04:11:50Z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